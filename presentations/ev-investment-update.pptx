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2026 EV registrations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706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Uttar Pradesh</c:v>
                  </c:pt>
                  <c:pt idx="1">
                    <c:v>Maharashtra</c:v>
                  </c:pt>
                  <c:pt idx="2">
                    <c:v>Karnataka</c:v>
                  </c:pt>
                  <c:pt idx="3">
                    <c:v>Tamil Nadu</c:v>
                  </c:pt>
                  <c:pt idx="4">
                    <c:v>Madhya Pradesh</c:v>
                  </c:pt>
                  <c:pt idx="5">
                    <c:v>Rajasthan</c:v>
                  </c:pt>
                  <c:pt idx="6">
                    <c:v>West Bengal</c:v>
                  </c:pt>
                  <c:pt idx="7">
                    <c:v>Bihar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14.2</c:v>
                </c:pt>
                <c:pt idx="1">
                  <c:v>11.2</c:v>
                </c:pt>
                <c:pt idx="2">
                  <c:v>9.2</c:v>
                </c:pt>
                <c:pt idx="3">
                  <c:v>8.6</c:v>
                </c:pt>
                <c:pt idx="4">
                  <c:v>5.8</c:v>
                </c:pt>
                <c:pt idx="5">
                  <c:v>5.1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F706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as % of registrations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23Q2</c:v>
                  </c:pt>
                  <c:pt idx="1">
                    <c:v>23Q3</c:v>
                  </c:pt>
                  <c:pt idx="2">
                    <c:v>23Q4</c:v>
                  </c:pt>
                  <c:pt idx="3">
                    <c:v>24Q1</c:v>
                  </c:pt>
                  <c:pt idx="4">
                    <c:v>24Q2</c:v>
                  </c:pt>
                  <c:pt idx="5">
                    <c:v>24Q3</c:v>
                  </c:pt>
                  <c:pt idx="6">
                    <c:v>24Q4</c:v>
                  </c:pt>
                  <c:pt idx="7">
                    <c:v>25Q1</c:v>
                  </c:pt>
                  <c:pt idx="8">
                    <c:v>25Q2</c:v>
                  </c:pt>
                  <c:pt idx="9">
                    <c:v>25Q3</c:v>
                  </c:pt>
                  <c:pt idx="10">
                    <c:v>25Q4</c:v>
                  </c:pt>
                  <c:pt idx="11">
                    <c:v>26Q1</c:v>
                  </c:pt>
                  <c:pt idx="12">
                    <c:v>26Q2</c:v>
                  </c:pt>
                  <c:pt idx="13">
                    <c:v>26Q3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26.5</c:v>
                </c:pt>
                <c:pt idx="1">
                  <c:v>34.9</c:v>
                </c:pt>
                <c:pt idx="2">
                  <c:v>27.6</c:v>
                </c:pt>
                <c:pt idx="3">
                  <c:v>25.7</c:v>
                </c:pt>
                <c:pt idx="4">
                  <c:v>33.9</c:v>
                </c:pt>
                <c:pt idx="5">
                  <c:v>44.6</c:v>
                </c:pt>
                <c:pt idx="6">
                  <c:v>37.7</c:v>
                </c:pt>
                <c:pt idx="7">
                  <c:v>44.8</c:v>
                </c:pt>
                <c:pt idx="8">
                  <c:v>42.9</c:v>
                </c:pt>
                <c:pt idx="9">
                  <c:v>49.1</c:v>
                </c:pt>
                <c:pt idx="10">
                  <c:v>49.4</c:v>
                </c:pt>
                <c:pt idx="11">
                  <c:v>53.8</c:v>
                </c:pt>
                <c:pt idx="12">
                  <c:v>54.1</c:v>
                </c:pt>
                <c:pt idx="13">
                  <c:v>59.9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EV production as a leading indicator for where manufacturing capital gets committed. Primary question is national; the siting question is a stretch. ~30 seconds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tight. The key point for the audience: the gradeable question is the national one, so the project does not fail if siting turns out to be incentive-driven rather than demand-driven.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plainly: three of four landed well. The fourth is the story, and I have a backup slide on it. Do not spend more than 60 seconds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growth, then immediately complicate it: the mix is 2W/3W but capex is 4W and cells. That mismatch is a genuine analytical risk, not a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demand is concentrated enough for the siting question to be meaningful, and the lead-lag machinery is built and running. The alternating signs are honest - I am not claiming a result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earns credit. Say out loud that a null is acceptable and that the real deliverable is a test with stated 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on: the modelling is not the risk. The dependent variable is. Steps 1 and 2 are where the remaining effort goes.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pull this up if asked, or if time allows. The four questions are the real ask - I want a steer on the inclusion rule and on whether a better capex feed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Haydn Stucker 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21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is growing fast — and is mostly two-wheelers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92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62672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65208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756648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62672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665208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92640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756648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growth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→ 2025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investment announcements we care about are concentrated in 4W and cell manufacturing. The demand signal and the capex signal may not be measuring the same market.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concentrated; the production feed is catching up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states take 49% of national EV registrations (HHI 0.071).</a:t>
            </a:r>
            <a:endParaRPr lang="en-US" sz="105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400800" y="164592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0" y="5257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coverage of registrations rose 27% → 60%. Four-wheeler EVs remain structurally under-captured.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lead test on the proxy pair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n≈37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count as an answer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a valid result, provided the test had power to detect a lead if one existed.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the test and its honest power, not a significant coefficient.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2544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6864" y="1920240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evaluate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2004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Lead–lag correlation and Granger-style tests across k = 1…6 months.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announcement counts predicted by their own lag plus a time trend.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1920240"/>
            <a:ext cx="274320" cy="274320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331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breaks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004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is the binding constraint, not method. 40 months of X against 8 months carrying a dated event.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achieved power. If it is too low to distinguish a real null from an underpowered one, we say so.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framing: with the dependent variable as thin as it is, the most likely outcome is an underpowered null — which is worth reporting as such.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the event extraction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across the full company roster, applying that rule. Target a usable monthly series.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lead–lag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1…6, with the baseline and placebo checks. Report achieved power alongside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 are the critical path. Everything downstream is blocked on how many dated events we can defensibly assemble.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hand-coded filing events, 16 companies. Only 11 carry a date better than a fiscal period, and only 9 fall inside the 40-month production window — across 8 distinct months.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in single digits,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2026-09-28T12:27:42Z</dcterms:created>
  <dcterms:modified xsi:type="dcterms:W3CDTF">2026-09-28T12:27:42Z</dcterms:modified>
</cp:coreProperties>
</file>