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registrations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131197</c:v>
                </c:pt>
                <c:pt idx="1">
                  <c:v>167917</c:v>
                </c:pt>
                <c:pt idx="2">
                  <c:v>126007</c:v>
                </c:pt>
                <c:pt idx="3">
                  <c:v>341279</c:v>
                </c:pt>
                <c:pt idx="4">
                  <c:v>1059660</c:v>
                </c:pt>
                <c:pt idx="5">
                  <c:v>1581708</c:v>
                </c:pt>
                <c:pt idx="6">
                  <c:v>2025425</c:v>
                </c:pt>
                <c:pt idx="7">
                  <c:v>2356222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0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2026 EV registrations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706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Uttar Pradesh</c:v>
                  </c:pt>
                  <c:pt idx="1">
                    <c:v>Maharashtra</c:v>
                  </c:pt>
                  <c:pt idx="2">
                    <c:v>Karnataka</c:v>
                  </c:pt>
                  <c:pt idx="3">
                    <c:v>Tamil Nadu</c:v>
                  </c:pt>
                  <c:pt idx="4">
                    <c:v>Madhya Pradesh</c:v>
                  </c:pt>
                  <c:pt idx="5">
                    <c:v>Rajasthan</c:v>
                  </c:pt>
                  <c:pt idx="6">
                    <c:v>West Bengal</c:v>
                  </c:pt>
                  <c:pt idx="7">
                    <c:v>Bihar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14.2</c:v>
                </c:pt>
                <c:pt idx="1">
                  <c:v>11.2</c:v>
                </c:pt>
                <c:pt idx="2">
                  <c:v>9.2</c:v>
                </c:pt>
                <c:pt idx="3">
                  <c:v>8.6</c:v>
                </c:pt>
                <c:pt idx="4">
                  <c:v>5.8</c:v>
                </c:pt>
                <c:pt idx="5">
                  <c:v>5.1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5F706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as % of registrations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23Q2</c:v>
                  </c:pt>
                  <c:pt idx="1">
                    <c:v>23Q3</c:v>
                  </c:pt>
                  <c:pt idx="2">
                    <c:v>23Q4</c:v>
                  </c:pt>
                  <c:pt idx="3">
                    <c:v>24Q1</c:v>
                  </c:pt>
                  <c:pt idx="4">
                    <c:v>24Q2</c:v>
                  </c:pt>
                  <c:pt idx="5">
                    <c:v>24Q3</c:v>
                  </c:pt>
                  <c:pt idx="6">
                    <c:v>24Q4</c:v>
                  </c:pt>
                  <c:pt idx="7">
                    <c:v>25Q1</c:v>
                  </c:pt>
                  <c:pt idx="8">
                    <c:v>25Q2</c:v>
                  </c:pt>
                  <c:pt idx="9">
                    <c:v>25Q3</c:v>
                  </c:pt>
                  <c:pt idx="10">
                    <c:v>25Q4</c:v>
                  </c:pt>
                  <c:pt idx="11">
                    <c:v>26Q1</c:v>
                  </c:pt>
                  <c:pt idx="12">
                    <c:v>26Q2</c:v>
                  </c:pt>
                  <c:pt idx="13">
                    <c:v>26Q3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26.5</c:v>
                </c:pt>
                <c:pt idx="1">
                  <c:v>34.9</c:v>
                </c:pt>
                <c:pt idx="2">
                  <c:v>27.6</c:v>
                </c:pt>
                <c:pt idx="3">
                  <c:v>25.7</c:v>
                </c:pt>
                <c:pt idx="4">
                  <c:v>33.9</c:v>
                </c:pt>
                <c:pt idx="5">
                  <c:v>44.6</c:v>
                </c:pt>
                <c:pt idx="6">
                  <c:v>37.7</c:v>
                </c:pt>
                <c:pt idx="7">
                  <c:v>44.8</c:v>
                </c:pt>
                <c:pt idx="8">
                  <c:v>42.9</c:v>
                </c:pt>
                <c:pt idx="9">
                  <c:v>49.1</c:v>
                </c:pt>
                <c:pt idx="10">
                  <c:v>49.4</c:v>
                </c:pt>
                <c:pt idx="11">
                  <c:v>53.8</c:v>
                </c:pt>
                <c:pt idx="12">
                  <c:v>54.1</c:v>
                </c:pt>
                <c:pt idx="13">
                  <c:v>59.9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 effect (RR 2.0)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80</c:v>
                </c:pt>
                <c:pt idx="2">
                  <c:v>93</c:v>
                </c:pt>
                <c:pt idx="3">
                  <c:v>99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Moderate effect (RR 1.5)</c:v>
                </c:pt>
              </c:strCache>
            </c:strRef>
          </c:tx>
          <c:spPr>
            <a:solidFill>
              <a:srgbClr val="D94F04"/>
            </a:solidFill>
            <a:ln w="38100" cap="flat">
              <a:solidFill>
                <a:srgbClr val="D94F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4F04"/>
              </a:solidFill>
              <a:ln w="9525" cap="flat">
                <a:solidFill>
                  <a:srgbClr val="D94F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</c:v>
                </c:pt>
                <c:pt idx="1">
                  <c:v>28</c:v>
                </c:pt>
                <c:pt idx="2">
                  <c:v>42</c:v>
                </c:pt>
                <c:pt idx="3">
                  <c:v>61</c:v>
                </c:pt>
                <c:pt idx="4">
                  <c:v>75</c:v>
                </c:pt>
                <c:pt idx="5">
                  <c:v>84</c:v>
                </c:pt>
                <c:pt idx="6">
                  <c:v>92</c:v>
                </c:pt>
                <c:pt idx="7">
                  <c:v>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Small effect (RR 1.25)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17</c:v>
                </c:pt>
                <c:pt idx="4">
                  <c:v>22</c:v>
                </c:pt>
                <c:pt idx="5">
                  <c:v>26</c:v>
                </c:pt>
                <c:pt idx="6">
                  <c:v>35</c:v>
                </c:pt>
                <c:pt idx="7">
                  <c:v>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30 seconds here — set the frame and move on
• Question: does national EV production growth lead investment announcements
• Alt-data angle: production as an early signal of where capital gets committed
• Two parts: national (primary), state siting (stretch)
• All data via the Thurro connector, India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explicitly that the primary question is gradeable on its own
• X = monthly national EV production growth
• Y = count and value of new manufacturing-investment announcements
• The test is lead-lag: does X move first, and at what lag
• Stretch: does a state's demand share predict its share of announced capacity
• Honest caveat: siting may be incentive-driven, as the US IRA wave suggests
• So the project does not fail if the stretch answer is that incentives decide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of four datasets landed clean — do not dwell, 60 seconds max
• Production: SIAM, 40 usable months, 2023-04 to 2026-07
• Registrations: VAHAN, 3,216 state-month rows, reconciles exactly to the national file
• Pricing: 654 variants, weekly from Nov 2025 — thinnest and least load-bearing
• The fourth was meant to be the dependent variable and is unusable
• Do not read the orange detail aloud — point at it, defer to the backup slide
• Substitute: 34 events hand-coded from exchange filings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Lead with the growth, then immediately complicate it
• Registrations grew about 18x from 2018 to 2025
• Peak month was 332,544 in July 2026
• But the mix is 62% two-wheelers, 27% three-wheelers, only 10% four-wheelers
• The capex we care about is four-wheelers and cell manufacturing
• So the demand signal and the capex signal may not track the same market
• This is a real analytical risk, not a footnote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points: siting is a fair question, and the machinery is built
• Top-5 states hold 49% of demand, HHI 0.071 — concentrated but not extreme
• UP 14.2%, Maharashtra 11.2%, Karnataka 9.2%, Tamil Nadu 8.6%
• Production coverage of registrations rose from 27% to 60%
• Four-wheeler EVs still under-captured: ICE and EV share one nameplate in the feed
• Lead test runs: +0.24 at k=0, -0.20 at k=1, +0.40 at k=2, n=39
• Be honest — signs alternate, so that is noise, not a 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slide that earns credit — spend your time here
• Success is a defensible answer, not a positive one
• A clean null is valid only if the test could have detected a lead
• Method: Poisson regression on monthly counts, lagged production growth
• Baseline uses their own lag plus a time trend; placebo shuffles dates within year
• The power study is done, not planned — that is the point to land
• At our 16 events a moderate effect is caught just 15% of the time
• 80% power needs about 73 events scanning six lags, about 48 if the lag is fixed
• Fixing the lag in advance is the cheapest win we have
• Real data at 16 events: no significant lead at any k, best p = 0.11
• Say it plainly — that is not evidence of no lead, it is an underpowered test
• If asked: false-positive rate checks out at 1.5-2.5%, solver validated against statsmodels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Steps 1 and 2 are the critical path — everything else waits on them
• Step 1: settle what counts as an announcement (board approval, press note, commissioning)
• Step 2: scale extraction toward 45-75 dated events
• We are at 22 dated, 16 inside the production window
• Step 3: build the month panel, plus the state panel for the stretch
• Step 4: run the tests with the lag pre-registered at k=3
• Step 5: write up, including the negative result on the investment source
• Close on this: the modelling is not the risk, the dependent variable 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Only pull this up if asked, or if time allows
• Problem 1: the dependent variable does not exist in the structured source
• Problem 2: the substitute is thin — 16 usable events against a 45-75 target
• Problem 3: two silent data defects found during ingestion
• The four questions are the real ask
• Q2 (the inclusion rule) unblocks the most work — push for an answer on that
• Q1 (a better capex feed) is highest value if the answer is yes
• Fallback if events stay low: pre-register the lag, or pivot to the state panel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480560"/>
            <a:ext cx="2743200" cy="274320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6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AIPI 590 · ALTERNATIVE DATA · PROJECT UPDATE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production and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ancillary investment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national growth in EV production predict new automotive-sector manufacturing-investment announcements?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Haydn Stucker  ·  Duke Pratt School of Engineering  ·  Data: Thurro connector (India)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actually testing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more EVs roll off assembly lines nationally, is that a signal that automakers are about to commit capital to new plants — and does the same pattern predict which states land it?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9631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78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2478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effort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523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EV production growth leads investment announcements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1272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monthly national EV production growth.  Y = count and value of new manufacturing-investment announcements.  A lead–lag test: does X move first?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325112"/>
            <a:ext cx="384048" cy="384048"/>
          </a:xfrm>
          <a:prstGeom prst="ellipse">
            <a:avLst/>
          </a:prstGeom>
          <a:solidFill>
            <a:srgbClr val="7048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306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04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306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effort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811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EV demand concentration explains where investment is sited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9560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state's share of EV demand predict its share of announced capacity — or do incentives decide siting instead, as the IRA gigafactory wave suggests?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question is national and stands alone. Siting is an extension, not a requirement.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TARGET DATASETS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named on the brief. Three delivered.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production &amp; sales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monthly production, domestic sales and exports by OEM and model.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usable months · 2023-04 → 2026-07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8503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873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68503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State-level registrations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registrations by state, segment and maker. Reconciles exactly to the national file.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8503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3,216 rows · 36 states · 2018-01 → 2026-08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pricing &amp; specs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model-level prices, battery capacity and range for cars and two-wheelers.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654 variants · 2025-11 → 2026-09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0684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D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1874520"/>
            <a:ext cx="310896" cy="310896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6520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USABLE DATA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investment tracking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source of the dependent variable. Contains no EV content — see backup slide.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6287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34 hand-coded filing events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dataset was meant to be the dependent variable.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whole automotive sector is two rows, titled "Infra" and "Non NIP worklist rejection". 113 of its 115 energy-storage rows are oil, gas and LNG. Nothing in it matches any EV or battery keyword.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is growing fast — and is mostly two-wheelers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8920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EV registrations, India (full years). 2026 is at 2.20M through August alone.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635240" y="1691640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62672" y="181965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048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2026 EV volume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two-wheelers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665208" y="1691640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92640" y="181965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9756648" y="24048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three-wheelers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(largely e-rickshaw)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635240" y="3346704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62672" y="347472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405993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four-wheelers 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 target segment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665208" y="3346704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92640" y="347472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18×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756648" y="405993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growth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→ 2025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2W/3W, but the investment announcements we care about are concentrated in 4W and cell manufacturing. The demand signal and the capex signal may not be measuring the same market.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is concentrated; the production feed is catching up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states take 49% of national EV registrations (HHI 0.071).</a:t>
            </a:r>
            <a:endParaRPr lang="en-US" sz="105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400800" y="164592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0" y="5257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coverage of registrations rose 27% → 60%. Four-wheeler EVs remain structurally under-captured.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lead test on the proxy pair gives +0.24 at k=0, −0.20 at k=1, +0.40 at k=2.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Sign-alternating at n=39 — the machinery runs, but this reads as noise, not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SUCCESS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an answer — and can we detect one?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840480" cy="3977640"/>
          </a:xfrm>
          <a:prstGeom prst="roundRect">
            <a:avLst>
              <a:gd name="adj" fmla="val 1905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042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is a defensible answer, not a positive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"production does not lead announcements" is valid — but only if the test could have detected a lead.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regression on monthly announcement counts, with lagged production growth.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beat: counts from their own lag plus a time trend.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Placebo: shuffle announcement dates within year; the lead must vanish.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709160" y="1645920"/>
          <a:ext cx="6830568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4526280"/>
            <a:ext cx="683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power vs number of dated events, scanning lags k = 1…6. We have 16.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09160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36592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~73 events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80% power scanning six lags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02168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 events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93608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lag is fixed in advance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833872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our 16 events a moderate effect is caught 15% of the time.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lag in advance cuts the events we need by a third — the cheapest win available.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9222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inclusion rule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7190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counts as an "announcement" — board approval, press note, or commissioning. This drives the row count more than more searching does.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6090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to the power target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8775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sweep of the filings corpus under that rule. We need 45–75 dated events; we have 22 dated, 16 inside the production window.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958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447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56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production growth, registrations and announcements on month; state panel for the siting extension.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982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315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tests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32511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pre-registered at k=3 rather than scanned, with the baseline and placebo checks. Achieved power beside every coefficient.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6694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84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19379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negative result on the investment source, which is a finding about alt-data coverage in its own right.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2 are the critical path. Everything downstream is blocked on how many dated events we can defensibly assemble.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0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FOR DISCUSSION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we hit — and what we need from you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00784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dependent variable does not exist in the structured data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3911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industrial-investment source has 2 automotive rows ("Infra", "Non NIP worklist rejection"), 113 of 115 energy-storage rows are oil and gas, and every row shares one snapshot date — so it cannot form a time series regardless of content.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21868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substitute is too thin to regress on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5701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events across 24 companies, hand-coded from filings. 22 carry a date better than a fiscal period, but only 16 land inside the 40-month production window — across 11 months. The power study says we need 45–75.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90288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7365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silent data defects found during ingestion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749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production is incomplete (5 of 11 OEMs reported) and reads as an 88% collapse. The connector's row cap scales with row width, so a wider query silently returns fewer rows.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554480"/>
            <a:ext cx="3721608" cy="41148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STAKEHOLDERS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221992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investment or capex feed we have not been pointed at — project-level, PLI/ACC allocations, or state MoUs?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exchange filings as the announcement source, and what should count as an "announcement"?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single-snapshot limitation on the project registry permanent, or is a historical series retrievable?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dated-event count stays in single digits, do you prefer an underpowered national test or a pivot to the state panel?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blocks the stretch question — the state panel has 3,216 clean rows and reconciles exactly.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Production and Ancillary Investment</dc:title>
  <dc:subject>PptxGenJS Presentation</dc:subject>
  <dc:creator>Haydn Stucker</dc:creator>
  <cp:lastModifiedBy>Haydn Stucker</cp:lastModifiedBy>
  <cp:revision>1</cp:revision>
  <dcterms:created xsi:type="dcterms:W3CDTF">2026-09-30T00:31:26Z</dcterms:created>
  <dcterms:modified xsi:type="dcterms:W3CDTF">2026-09-30T00:31:26Z</dcterms:modified>
</cp:coreProperties>
</file>