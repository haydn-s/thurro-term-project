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4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EV registrations</c:v>
                </c:pt>
              </c:strCache>
            </c:strRef>
          </c:tx>
          <c:spPr>
            <a:solidFill>
              <a:srgbClr val="0D9488"/>
            </a:solidFill>
            <a:ln w="38100" cap="flat">
              <a:solidFill>
                <a:srgbClr val="0D948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D9488"/>
              </a:solidFill>
              <a:ln w="9525" cap="flat">
                <a:solidFill>
                  <a:srgbClr val="0D948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2018</c:v>
                  </c:pt>
                  <c:pt idx="1">
                    <c:v>2019</c:v>
                  </c:pt>
                  <c:pt idx="2">
                    <c:v>2020</c:v>
                  </c:pt>
                  <c:pt idx="3">
                    <c:v>2021</c:v>
                  </c:pt>
                  <c:pt idx="4">
                    <c:v>2022</c:v>
                  </c:pt>
                  <c:pt idx="5">
                    <c:v>2023</c:v>
                  </c:pt>
                  <c:pt idx="6">
                    <c:v>2024</c:v>
                  </c:pt>
                  <c:pt idx="7">
                    <c:v>2025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131197</c:v>
                </c:pt>
                <c:pt idx="1">
                  <c:v>167917</c:v>
                </c:pt>
                <c:pt idx="2">
                  <c:v>126007</c:v>
                </c:pt>
                <c:pt idx="3">
                  <c:v>341279</c:v>
                </c:pt>
                <c:pt idx="4">
                  <c:v>1059660</c:v>
                </c:pt>
                <c:pt idx="5">
                  <c:v>1581708</c:v>
                </c:pt>
                <c:pt idx="6">
                  <c:v>2025425</c:v>
                </c:pt>
                <c:pt idx="7">
                  <c:v>2356222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706D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500000"/>
        </c:scaling>
        <c:delete val="0"/>
        <c:axPos val="l"/>
        <c:majorGridlines>
          <c:spPr>
            <a:ln w="12700" cap="flat">
              <a:solidFill>
                <a:srgbClr val="DCE4E2"/>
              </a:solidFill>
              <a:prstDash val="solid"/>
              <a:round/>
            </a:ln>
          </c:spPr>
        </c:majorGridlines>
        <c:numFmt formatCode="#,##0,,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706D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 of 2026 EV registrations</c:v>
                </c:pt>
              </c:strCache>
            </c:strRef>
          </c:tx>
          <c:spPr>
            <a:solidFill>
              <a:srgbClr val="0D9488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5F706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Uttar Pradesh</c:v>
                  </c:pt>
                  <c:pt idx="1">
                    <c:v>Maharashtra</c:v>
                  </c:pt>
                  <c:pt idx="2">
                    <c:v>Karnataka</c:v>
                  </c:pt>
                  <c:pt idx="3">
                    <c:v>Tamil Nadu</c:v>
                  </c:pt>
                  <c:pt idx="4">
                    <c:v>Madhya Pradesh</c:v>
                  </c:pt>
                  <c:pt idx="5">
                    <c:v>Rajasthan</c:v>
                  </c:pt>
                  <c:pt idx="6">
                    <c:v>West Bengal</c:v>
                  </c:pt>
                  <c:pt idx="7">
                    <c:v>Bihar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14.2</c:v>
                </c:pt>
                <c:pt idx="1">
                  <c:v>11.2</c:v>
                </c:pt>
                <c:pt idx="2">
                  <c:v>9.2</c:v>
                </c:pt>
                <c:pt idx="3">
                  <c:v>8.6</c:v>
                </c:pt>
                <c:pt idx="4">
                  <c:v>5.8</c:v>
                </c:pt>
                <c:pt idx="5">
                  <c:v>5.1</c:v>
                </c:pt>
                <c:pt idx="6">
                  <c:v>5</c:v>
                </c:pt>
                <c:pt idx="7">
                  <c:v>4.7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5F706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706D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706D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Production as % of registrations</c:v>
                </c:pt>
              </c:strCache>
            </c:strRef>
          </c:tx>
          <c:spPr>
            <a:solidFill>
              <a:srgbClr val="7048C4"/>
            </a:solidFill>
            <a:ln w="38100" cap="flat">
              <a:solidFill>
                <a:srgbClr val="7048C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7048C4"/>
              </a:solidFill>
              <a:ln w="9525" cap="flat">
                <a:solidFill>
                  <a:srgbClr val="7048C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Sheet1!$A$2:$A$15</c:f>
              <c:multiLvlStrCache>
                <c:ptCount val="14"/>
                <c:lvl>
                  <c:pt idx="0">
                    <c:v>23Q2</c:v>
                  </c:pt>
                  <c:pt idx="1">
                    <c:v>23Q3</c:v>
                  </c:pt>
                  <c:pt idx="2">
                    <c:v>23Q4</c:v>
                  </c:pt>
                  <c:pt idx="3">
                    <c:v>24Q1</c:v>
                  </c:pt>
                  <c:pt idx="4">
                    <c:v>24Q2</c:v>
                  </c:pt>
                  <c:pt idx="5">
                    <c:v>24Q3</c:v>
                  </c:pt>
                  <c:pt idx="6">
                    <c:v>24Q4</c:v>
                  </c:pt>
                  <c:pt idx="7">
                    <c:v>25Q1</c:v>
                  </c:pt>
                  <c:pt idx="8">
                    <c:v>25Q2</c:v>
                  </c:pt>
                  <c:pt idx="9">
                    <c:v>25Q3</c:v>
                  </c:pt>
                  <c:pt idx="10">
                    <c:v>25Q4</c:v>
                  </c:pt>
                  <c:pt idx="11">
                    <c:v>26Q1</c:v>
                  </c:pt>
                  <c:pt idx="12">
                    <c:v>26Q2</c:v>
                  </c:pt>
                  <c:pt idx="13">
                    <c:v>26Q3</c:v>
                  </c:pt>
                </c:lvl>
              </c:multiLvlStrCache>
            </c:multiLvl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26.5</c:v>
                </c:pt>
                <c:pt idx="1">
                  <c:v>34.9</c:v>
                </c:pt>
                <c:pt idx="2">
                  <c:v>27.6</c:v>
                </c:pt>
                <c:pt idx="3">
                  <c:v>25.7</c:v>
                </c:pt>
                <c:pt idx="4">
                  <c:v>33.9</c:v>
                </c:pt>
                <c:pt idx="5">
                  <c:v>44.6</c:v>
                </c:pt>
                <c:pt idx="6">
                  <c:v>37.7</c:v>
                </c:pt>
                <c:pt idx="7">
                  <c:v>44.8</c:v>
                </c:pt>
                <c:pt idx="8">
                  <c:v>42.9</c:v>
                </c:pt>
                <c:pt idx="9">
                  <c:v>49.1</c:v>
                </c:pt>
                <c:pt idx="10">
                  <c:v>49.4</c:v>
                </c:pt>
                <c:pt idx="11">
                  <c:v>53.8</c:v>
                </c:pt>
                <c:pt idx="12">
                  <c:v>54.1</c:v>
                </c:pt>
                <c:pt idx="13">
                  <c:v>59.9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706D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12700" cap="flat">
              <a:solidFill>
                <a:srgbClr val="DCE4E2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706D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Large effect (RR 2.0)</c:v>
                </c:pt>
              </c:strCache>
            </c:strRef>
          </c:tx>
          <c:spPr>
            <a:solidFill>
              <a:srgbClr val="0D9488"/>
            </a:solidFill>
            <a:ln w="38100" cap="flat">
              <a:solidFill>
                <a:srgbClr val="0D948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D9488"/>
              </a:solidFill>
              <a:ln w="9525" cap="flat">
                <a:solidFill>
                  <a:srgbClr val="0D948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16</c:v>
                  </c:pt>
                  <c:pt idx="1">
                    <c:v>25</c:v>
                  </c:pt>
                  <c:pt idx="2">
                    <c:v>35</c:v>
                  </c:pt>
                  <c:pt idx="3">
                    <c:v>50</c:v>
                  </c:pt>
                  <c:pt idx="4">
                    <c:v>65</c:v>
                  </c:pt>
                  <c:pt idx="5">
                    <c:v>80</c:v>
                  </c:pt>
                  <c:pt idx="6">
                    <c:v>100</c:v>
                  </c:pt>
                  <c:pt idx="7">
                    <c:v>120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54</c:v>
                </c:pt>
                <c:pt idx="1">
                  <c:v>80</c:v>
                </c:pt>
                <c:pt idx="2">
                  <c:v>93</c:v>
                </c:pt>
                <c:pt idx="3">
                  <c:v>99</c:v>
                </c:pt>
                <c:pt idx="4">
                  <c:v>100</c:v>
                </c:pt>
                <c:pt idx="5">
                  <c:v>100</c:v>
                </c:pt>
                <c:pt idx="6">
                  <c:v>100</c:v>
                </c:pt>
                <c:pt idx="7">
                  <c:v>100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Moderate effect (RR 1.5)</c:v>
                </c:pt>
              </c:strCache>
            </c:strRef>
          </c:tx>
          <c:spPr>
            <a:solidFill>
              <a:srgbClr val="D94F04"/>
            </a:solidFill>
            <a:ln w="38100" cap="flat">
              <a:solidFill>
                <a:srgbClr val="D94F0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D94F04"/>
              </a:solidFill>
              <a:ln w="9525" cap="flat">
                <a:solidFill>
                  <a:srgbClr val="D94F0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16</c:v>
                  </c:pt>
                  <c:pt idx="1">
                    <c:v>25</c:v>
                  </c:pt>
                  <c:pt idx="2">
                    <c:v>35</c:v>
                  </c:pt>
                  <c:pt idx="3">
                    <c:v>50</c:v>
                  </c:pt>
                  <c:pt idx="4">
                    <c:v>65</c:v>
                  </c:pt>
                  <c:pt idx="5">
                    <c:v>80</c:v>
                  </c:pt>
                  <c:pt idx="6">
                    <c:v>100</c:v>
                  </c:pt>
                  <c:pt idx="7">
                    <c:v>120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15</c:v>
                </c:pt>
                <c:pt idx="1">
                  <c:v>28</c:v>
                </c:pt>
                <c:pt idx="2">
                  <c:v>42</c:v>
                </c:pt>
                <c:pt idx="3">
                  <c:v>61</c:v>
                </c:pt>
                <c:pt idx="4">
                  <c:v>75</c:v>
                </c:pt>
                <c:pt idx="5">
                  <c:v>84</c:v>
                </c:pt>
                <c:pt idx="6">
                  <c:v>92</c:v>
                </c:pt>
                <c:pt idx="7">
                  <c:v>96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Small effect (RR 1.25)</c:v>
                </c:pt>
              </c:strCache>
            </c:strRef>
          </c:tx>
          <c:spPr>
            <a:solidFill>
              <a:srgbClr val="7048C4"/>
            </a:solidFill>
            <a:ln w="38100" cap="flat">
              <a:solidFill>
                <a:srgbClr val="7048C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7048C4"/>
              </a:solidFill>
              <a:ln w="9525" cap="flat">
                <a:solidFill>
                  <a:srgbClr val="7048C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16</c:v>
                  </c:pt>
                  <c:pt idx="1">
                    <c:v>25</c:v>
                  </c:pt>
                  <c:pt idx="2">
                    <c:v>35</c:v>
                  </c:pt>
                  <c:pt idx="3">
                    <c:v>50</c:v>
                  </c:pt>
                  <c:pt idx="4">
                    <c:v>65</c:v>
                  </c:pt>
                  <c:pt idx="5">
                    <c:v>80</c:v>
                  </c:pt>
                  <c:pt idx="6">
                    <c:v>100</c:v>
                  </c:pt>
                  <c:pt idx="7">
                    <c:v>120</c:v>
                  </c:pt>
                </c:lvl>
              </c:multiLvlStrCache>
            </c:multiLvlStrRef>
          </c:cat>
          <c:val>
            <c:numRef>
              <c:f>Sheet1!$D$2:$D$9</c:f>
              <c:numCache>
                <c:formatCode>General</c:formatCode>
                <c:ptCount val="8"/>
                <c:pt idx="0">
                  <c:v>4</c:v>
                </c:pt>
                <c:pt idx="1">
                  <c:v>7</c:v>
                </c:pt>
                <c:pt idx="2">
                  <c:v>10</c:v>
                </c:pt>
                <c:pt idx="3">
                  <c:v>17</c:v>
                </c:pt>
                <c:pt idx="4">
                  <c:v>22</c:v>
                </c:pt>
                <c:pt idx="5">
                  <c:v>26</c:v>
                </c:pt>
                <c:pt idx="6">
                  <c:v>35</c:v>
                </c:pt>
                <c:pt idx="7">
                  <c:v>44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706D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12700" cap="flat">
              <a:solidFill>
                <a:srgbClr val="DCE4E2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706D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F706D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30 seconds here — set the frame and move on
• Question: does national EV production growth lead investment announcements
• Alt-data angle: production as an early signal of where capital gets committed
• Two parts: national (primary), state siting (stretch)
• All data via the Thurro connector, India only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Say explicitly that the primary question is gradeable on its own
• X = monthly national EV production growth
• Y = count and value of new manufacturing-investment announcements
• The test is lead-lag: does X move first, and at what lag
• Stretch: does a state's demand share predict its share of announced capacity
• Honest caveat: siting may be incentive-driven, as the US IRA wave suggests
• So the project does not fail if the stretch answer is that incentives decide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Three of four datasets landed clean — do not dwell, 60 seconds max
• Production: SIAM, 40 usable months, 2023-04 to 2026-07
• Registrations: VAHAN, 3,216 state-month rows, reconciles exactly to the national file
• Pricing: 654 variants, weekly from Nov 2025 — thinnest and least load-bearing
• The fourth was meant to be the dependent variable and is unusable
• Do not read the orange detail aloud — point at it, defer to the backup slide
• Substitute: 34 events hand-coded from exchange filings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Lead with the growth, then immediately complicate it
• Registrations grew about 18x from 2018 to 2025
• Peak month was 332,544 in July 2026
• But the mix is 62% two-wheelers, 27% three-wheelers, only 10% four-wheelers
• The capex we care about is four-wheelers and cell manufacturing
• So the demand signal and the capex signal may not track the same market
• This is a real analytical risk, not a footnote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Two points: siting is a fair question, and the machinery is built
• Top-5 states hold 49% of demand, HHI 0.071 — concentrated but not extreme
• UP 14.2%, Maharashtra 11.2%, Karnataka 9.2%, Tamil Nadu 8.6%
• Production coverage of registrations rose from 27% to 60%
• Four-wheeler EVs still under-captured: ICE and EV share one nameplate in the feed
• Lead test runs: +0.24 at k=0, -0.20 at k=1, +0.40 at k=2, n=39
• Be honest — signs alternate, so that is noise, not a result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the slide that earns credit — spend your time here
• Success is a defensible answer, not a positive one
• A clean null is valid only if the test could have detected a lead
• Method: Poisson regression on monthly counts, lagged production growth
• Baseline uses their own lag plus a time trend; placebo shuffles dates within year
• The power study is done, not planned — that is the point to land
• At our 16 events a moderate effect is caught just 15% of the time
• 80% power needs about 73 events scanning six lags, about 48 if the lag is fixed
• Fixing the lag in advance is the cheapest win we have
• Real data at 16 events: no significant lead at any k, best p = 0.11
• Say it plainly — that is not evidence of no lead, it is an underpowered test
• If asked: false-positive rate checks out at 1.5-2.5%, solver validated against statsmodels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Steps 1 and 2 are the critical path — everything else waits on them
• Step 1: settle what counts as an announcement (board approval, press note, commissioning)
• Step 2: scale extraction toward 45-75 dated events
• We are at 22 dated, 16 inside the production window
• Step 3: build the month panel, plus the state panel for the stretch
• Step 4: run the tests with the lag pre-registered at k=3
• Step 5: write up, including the negative result on the investment source
• Close on this: the modelling is not the risk, the dependent variable is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Only pull this up if asked, or if time allows
• Problem 1: the dependent variable does not exist in the structured source
• Problem 2: the substitute is thin — 16 usable events against a 45-75 target
• Problem 3: two silent data defects found during ingestion
• The four questions are the real ask
• Q2 (the inclusion rule) unblocks the most work — push for an answer on that
• Q1 (a better capex feed) is highest value if the answer is yes
• Fallback if events stay well short of 45-75: pre-register the lag, or pivot to the state panel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3B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18320" y="-1371600"/>
            <a:ext cx="4754880" cy="4754880"/>
          </a:xfrm>
          <a:prstGeom prst="ellipse">
            <a:avLst/>
          </a:prstGeom>
          <a:solidFill>
            <a:srgbClr val="1150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881360" y="4480560"/>
            <a:ext cx="2743200" cy="2743200"/>
          </a:xfrm>
          <a:prstGeom prst="ellipse">
            <a:avLst/>
          </a:prstGeom>
          <a:solidFill>
            <a:srgbClr val="1150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3716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80" kern="0" dirty="0">
                <a:solidFill>
                  <a:srgbClr val="6FD8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AIPI 590 · ALTERNATIVE DATA · PROJECT UPDATE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828800"/>
            <a:ext cx="87782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2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 production and</a:t>
            </a:r>
            <a:endParaRPr lang="en-US" sz="4600" dirty="0"/>
          </a:p>
          <a:p>
            <a:pPr indent="0" marL="0">
              <a:lnSpc>
                <a:spcPts val="52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ancillary investment</a:t>
            </a:r>
            <a:endParaRPr lang="en-US" sz="46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70332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BFD9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national growth in EV production predict new automotive-sector manufacturing-investment announcements?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58521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B4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Haydn Stucker  ·  Duke Pratt School of Engineering  ·  Data: Thurro connector (India)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THE PROBLEM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21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are actually testing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46304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more EVs roll off assembly lines nationally, is that a signal that automakers are about to commit capital to new plants — and does the same pattern predict which states land it?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240280"/>
            <a:ext cx="10881360" cy="1600200"/>
          </a:xfrm>
          <a:prstGeom prst="roundRect">
            <a:avLst>
              <a:gd name="adj" fmla="val 4571"/>
            </a:avLst>
          </a:prstGeom>
          <a:solidFill>
            <a:srgbClr val="F4F8F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2496312"/>
            <a:ext cx="384048" cy="384048"/>
          </a:xfrm>
          <a:prstGeom prst="ellipse">
            <a:avLst/>
          </a:prstGeom>
          <a:solidFill>
            <a:srgbClr val="0D94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463040" y="247802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9418320" y="247802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~80% of effort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1463040" y="2752344"/>
            <a:ext cx="9692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National EV production growth leads investment announcements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1463040" y="3127248"/>
            <a:ext cx="9692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= monthly national EV production growth.  Y = count and value of new manufacturing-investment announcements.  A lead–lag test: does X move first?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40080" y="4069080"/>
            <a:ext cx="10881360" cy="1600200"/>
          </a:xfrm>
          <a:prstGeom prst="roundRect">
            <a:avLst>
              <a:gd name="adj" fmla="val 4571"/>
            </a:avLst>
          </a:prstGeom>
          <a:solidFill>
            <a:srgbClr val="F4F8F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14400" y="4325112"/>
            <a:ext cx="384048" cy="384048"/>
          </a:xfrm>
          <a:prstGeom prst="ellipse">
            <a:avLst/>
          </a:prstGeom>
          <a:solidFill>
            <a:srgbClr val="7048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463040" y="430682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704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STRETCH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9418320" y="430682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~20% of effort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1463040" y="4581144"/>
            <a:ext cx="9692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State EV demand concentration explains where investment is sited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1463040" y="4956048"/>
            <a:ext cx="9692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a state's share of EV demand predict its share of announced capacity — or do incentives decide siting instead, as the IRA gigafactory wave suggests?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603504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primary question is national and stands alone. Siting is an extension, not a requirement.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TARGET DATASETS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21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named on the brief. Three delivered.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2670048" cy="3200400"/>
          </a:xfrm>
          <a:prstGeom prst="roundRect">
            <a:avLst>
              <a:gd name="adj" fmla="val 2740"/>
            </a:avLst>
          </a:prstGeom>
          <a:solidFill>
            <a:srgbClr val="F4F8F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96112" y="1874520"/>
            <a:ext cx="310896" cy="310896"/>
          </a:xfrm>
          <a:prstGeom prst="ellipse">
            <a:avLst/>
          </a:prstGeom>
          <a:solidFill>
            <a:srgbClr val="0D94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298448" y="188366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DELIVERED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2331720"/>
            <a:ext cx="21579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National production &amp; sales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96112" y="3127248"/>
            <a:ext cx="21579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SIAM monthly production, domestic sales and exports by OEM and model.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896112" y="4261104"/>
            <a:ext cx="21579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usable months · 2023-04 → 2026-07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429000" y="1600200"/>
            <a:ext cx="2670048" cy="3200400"/>
          </a:xfrm>
          <a:prstGeom prst="roundRect">
            <a:avLst>
              <a:gd name="adj" fmla="val 2740"/>
            </a:avLst>
          </a:prstGeom>
          <a:solidFill>
            <a:srgbClr val="F4F8F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685032" y="1874520"/>
            <a:ext cx="310896" cy="310896"/>
          </a:xfrm>
          <a:prstGeom prst="ellipse">
            <a:avLst/>
          </a:prstGeom>
          <a:solidFill>
            <a:srgbClr val="0D94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087368" y="188366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DELIVERED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3685032" y="2331720"/>
            <a:ext cx="21579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State-level registrations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3685032" y="3127248"/>
            <a:ext cx="21579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VAHAN registrations by state, segment and maker. Reconciles exactly to the national file.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3685032" y="4261104"/>
            <a:ext cx="21579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3,216 rows · 36 states · 2018-01 → 2026-08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217920" y="1600200"/>
            <a:ext cx="2670048" cy="3200400"/>
          </a:xfrm>
          <a:prstGeom prst="roundRect">
            <a:avLst>
              <a:gd name="adj" fmla="val 2740"/>
            </a:avLst>
          </a:prstGeom>
          <a:solidFill>
            <a:srgbClr val="F4F8F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73952" y="1874520"/>
            <a:ext cx="310896" cy="310896"/>
          </a:xfrm>
          <a:prstGeom prst="ellipse">
            <a:avLst/>
          </a:prstGeom>
          <a:solidFill>
            <a:srgbClr val="0D94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876288" y="188366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DELIVERED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6473952" y="2331720"/>
            <a:ext cx="21579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 pricing &amp; specs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6473952" y="3127248"/>
            <a:ext cx="21579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model-level prices, battery capacity and range for cars and two-wheelers.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6473952" y="4261104"/>
            <a:ext cx="21579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654 variants · 2025-11 → 2026-09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9006840" y="1600200"/>
            <a:ext cx="2670048" cy="3200400"/>
          </a:xfrm>
          <a:prstGeom prst="roundRect">
            <a:avLst>
              <a:gd name="adj" fmla="val 2740"/>
            </a:avLst>
          </a:prstGeom>
          <a:solidFill>
            <a:srgbClr val="FDF1E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262872" y="1874520"/>
            <a:ext cx="310896" cy="310896"/>
          </a:xfrm>
          <a:prstGeom prst="ellipse">
            <a:avLst/>
          </a:prstGeom>
          <a:solidFill>
            <a:srgbClr val="D94F0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665208" y="188366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D94F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USABLE DATA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9262872" y="2331720"/>
            <a:ext cx="21579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Industrial investment tracking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9262872" y="3127248"/>
            <a:ext cx="21579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Intended source of the dependent variable. Contains no EV content — see backup slide.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9262872" y="4261104"/>
            <a:ext cx="21579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94F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Substitute: 34 hand-coded filing events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640080" y="50749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fourth dataset was meant to be the dependent variable. </a:t>
            </a:r>
            <a:pPr indent="0" marL="0">
              <a:buNone/>
            </a:pPr>
            <a:r>
              <a:rPr lang="en-US" sz="1300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whole automotive sector is two rows, titled "Infra" and "Non NIP worklist rejection". 113 of its 115 energy-storage rows are oil, gas and LNG. Nothing in it matches any EV or battery keyword.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INITIAL EDA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21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market is growing fast — and is mostly two-wheelers</a:t>
            </a:r>
            <a:endParaRPr lang="en-US" sz="36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40080" y="1645920"/>
          <a:ext cx="667512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40080" y="4892040"/>
            <a:ext cx="6675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EV registrations, India (full years). 2026 is at 2.20M through August alone.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7635240" y="1691640"/>
            <a:ext cx="1874520" cy="1481328"/>
          </a:xfrm>
          <a:prstGeom prst="roundRect">
            <a:avLst>
              <a:gd name="adj" fmla="val 4938"/>
            </a:avLst>
          </a:prstGeom>
          <a:solidFill>
            <a:srgbClr val="F4F8F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662672" y="1819656"/>
            <a:ext cx="18196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D94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62%</a:t>
            </a:r>
            <a:endParaRPr lang="en-US" sz="3200" dirty="0"/>
          </a:p>
        </p:txBody>
      </p:sp>
      <p:sp>
        <p:nvSpPr>
          <p:cNvPr id="8" name="Text 5"/>
          <p:cNvSpPr txBox="1"/>
          <p:nvPr/>
        </p:nvSpPr>
        <p:spPr>
          <a:xfrm>
            <a:off x="7726680" y="2404872"/>
            <a:ext cx="1691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2026 EV volume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two-wheelers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9665208" y="1691640"/>
            <a:ext cx="1874520" cy="1481328"/>
          </a:xfrm>
          <a:prstGeom prst="roundRect">
            <a:avLst>
              <a:gd name="adj" fmla="val 4938"/>
            </a:avLst>
          </a:prstGeom>
          <a:solidFill>
            <a:srgbClr val="F4F8F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9692640" y="1819656"/>
            <a:ext cx="18196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D94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27%</a:t>
            </a:r>
            <a:endParaRPr lang="en-US" sz="3200" dirty="0"/>
          </a:p>
        </p:txBody>
      </p:sp>
      <p:sp>
        <p:nvSpPr>
          <p:cNvPr id="11" name="Text 8"/>
          <p:cNvSpPr txBox="1"/>
          <p:nvPr/>
        </p:nvSpPr>
        <p:spPr>
          <a:xfrm>
            <a:off x="9756648" y="2404872"/>
            <a:ext cx="1691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three-wheelers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(largely e-rickshaw)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7635240" y="3346704"/>
            <a:ext cx="1874520" cy="1481328"/>
          </a:xfrm>
          <a:prstGeom prst="roundRect">
            <a:avLst>
              <a:gd name="adj" fmla="val 4938"/>
            </a:avLst>
          </a:prstGeom>
          <a:solidFill>
            <a:srgbClr val="F4F8F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662672" y="3474720"/>
            <a:ext cx="18196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94F0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10%</a:t>
            </a:r>
            <a:endParaRPr lang="en-US" sz="3200" dirty="0"/>
          </a:p>
        </p:txBody>
      </p:sp>
      <p:sp>
        <p:nvSpPr>
          <p:cNvPr id="14" name="Text 11"/>
          <p:cNvSpPr txBox="1"/>
          <p:nvPr/>
        </p:nvSpPr>
        <p:spPr>
          <a:xfrm>
            <a:off x="7726680" y="4059936"/>
            <a:ext cx="1691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four-wheelers —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capex target segment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9665208" y="3346704"/>
            <a:ext cx="1874520" cy="1481328"/>
          </a:xfrm>
          <a:prstGeom prst="roundRect">
            <a:avLst>
              <a:gd name="adj" fmla="val 4938"/>
            </a:avLst>
          </a:prstGeom>
          <a:solidFill>
            <a:srgbClr val="F4F8F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9692640" y="3474720"/>
            <a:ext cx="18196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D94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18×</a:t>
            </a:r>
            <a:endParaRPr lang="en-US" sz="3200" dirty="0"/>
          </a:p>
        </p:txBody>
      </p:sp>
      <p:sp>
        <p:nvSpPr>
          <p:cNvPr id="17" name="Text 14"/>
          <p:cNvSpPr txBox="1"/>
          <p:nvPr/>
        </p:nvSpPr>
        <p:spPr>
          <a:xfrm>
            <a:off x="9756648" y="4059936"/>
            <a:ext cx="1691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registration growth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2018 → 2025</a:t>
            </a:r>
            <a:endParaRPr lang="en-US" sz="105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548640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matters:  </a:t>
            </a:r>
            <a:pPr indent="0" marL="0">
              <a:buNone/>
            </a:pPr>
            <a:r>
              <a:rPr lang="en-US" sz="1300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volume is 2W/3W, but the investment announcements we care about are concentrated in 4W and cell manufacturing. The demand signal and the capex signal may not be measuring the same market.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INITIAL EDA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21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Demand is concentrated; the production feed is catching up</a:t>
            </a:r>
            <a:endParaRPr lang="en-US" sz="36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40080" y="1645920"/>
          <a:ext cx="539496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40080" y="525780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Top-5 states take 49% of national EV registrations (HHI 0.071).</a:t>
            </a:r>
            <a:endParaRPr lang="en-US" sz="1050" dirty="0"/>
          </a:p>
        </p:txBody>
      </p:sp>
      <p:graphicFrame>
        <p:nvGraphicFramePr>
          <p:cNvPr id="6" name="Chart 1" descr=""/>
          <p:cNvGraphicFramePr/>
          <p:nvPr/>
        </p:nvGraphicFramePr>
        <p:xfrm>
          <a:off x="6400800" y="1645920"/>
          <a:ext cx="512064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3"/>
          <p:cNvSpPr txBox="1"/>
          <p:nvPr/>
        </p:nvSpPr>
        <p:spPr>
          <a:xfrm>
            <a:off x="6400800" y="525780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coverage of registrations rose 27% → 60%. Four-wheeler EVs remain structurally under-captured.</a:t>
            </a:r>
            <a:endParaRPr lang="en-US" sz="1050" dirty="0"/>
          </a:p>
        </p:txBody>
      </p:sp>
      <p:sp>
        <p:nvSpPr>
          <p:cNvPr id="8" name="Text 4"/>
          <p:cNvSpPr txBox="1"/>
          <p:nvPr/>
        </p:nvSpPr>
        <p:spPr>
          <a:xfrm>
            <a:off x="640080" y="585216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first lead test on the proxy pair gives +0.24 at k=0, −0.20 at k=1, +0.40 at k=2. </a:t>
            </a:r>
            <a:pPr indent="0" marL="0">
              <a:buNone/>
            </a:pPr>
            <a:r>
              <a:rPr lang="en-US" sz="1300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Sign-alternating at n=39 — the machinery runs, but this reads as noise, not structure.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SUCCESS &amp; EVALUATION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21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counts as an answer — and can we detect one?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3840480" cy="3977640"/>
          </a:xfrm>
          <a:prstGeom prst="roundRect">
            <a:avLst>
              <a:gd name="adj" fmla="val 1905"/>
            </a:avLst>
          </a:prstGeom>
          <a:solidFill>
            <a:srgbClr val="F4F8F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901952"/>
            <a:ext cx="274320" cy="27432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4400" y="2304288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Success is a defensible answer, not a positive one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3108960"/>
            <a:ext cx="329184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clean "production does not lead announcements" is valid — but only if the test could have detected a lead.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Poisson regression on monthly announcement counts, with lagged production growth.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to beat: counts from their own lag plus a time trend.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Placebo: shuffle announcement dates within year; the lead must vanish.</a:t>
            </a:r>
            <a:endParaRPr lang="en-US" sz="12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709160" y="1645920"/>
          <a:ext cx="6830568" cy="2880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 txBox="1"/>
          <p:nvPr/>
        </p:nvSpPr>
        <p:spPr>
          <a:xfrm>
            <a:off x="4709160" y="4526280"/>
            <a:ext cx="683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Simulated power vs number of dated events, scanning lags k = 1…6. We have 16.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4709160" y="4864608"/>
            <a:ext cx="3337560" cy="758952"/>
          </a:xfrm>
          <a:prstGeom prst="roundRect">
            <a:avLst>
              <a:gd name="adj" fmla="val 9639"/>
            </a:avLst>
          </a:prstGeom>
          <a:solidFill>
            <a:srgbClr val="F4F8F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736592" y="4992624"/>
            <a:ext cx="32826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94F0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~73 events</a:t>
            </a:r>
            <a:endParaRPr lang="en-US" sz="3200" dirty="0"/>
          </a:p>
        </p:txBody>
      </p:sp>
      <p:sp>
        <p:nvSpPr>
          <p:cNvPr id="12" name="Text 9"/>
          <p:cNvSpPr txBox="1"/>
          <p:nvPr/>
        </p:nvSpPr>
        <p:spPr>
          <a:xfrm>
            <a:off x="4800600" y="5577840"/>
            <a:ext cx="3154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80% power scanning six lags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8202168" y="4864608"/>
            <a:ext cx="3337560" cy="758952"/>
          </a:xfrm>
          <a:prstGeom prst="roundRect">
            <a:avLst>
              <a:gd name="adj" fmla="val 9639"/>
            </a:avLst>
          </a:prstGeom>
          <a:solidFill>
            <a:srgbClr val="F4F8F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229600" y="4992624"/>
            <a:ext cx="32826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D94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~48 events</a:t>
            </a:r>
            <a:endParaRPr lang="en-US" sz="3200" dirty="0"/>
          </a:p>
        </p:txBody>
      </p:sp>
      <p:sp>
        <p:nvSpPr>
          <p:cNvPr id="15" name="Text 12"/>
          <p:cNvSpPr txBox="1"/>
          <p:nvPr/>
        </p:nvSpPr>
        <p:spPr>
          <a:xfrm>
            <a:off x="8293608" y="5577840"/>
            <a:ext cx="3154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lag is fixed in advance</a:t>
            </a:r>
            <a:endParaRPr lang="en-US" sz="1050" dirty="0"/>
          </a:p>
        </p:txBody>
      </p:sp>
      <p:sp>
        <p:nvSpPr>
          <p:cNvPr id="16" name="Text 13"/>
          <p:cNvSpPr txBox="1"/>
          <p:nvPr/>
        </p:nvSpPr>
        <p:spPr>
          <a:xfrm>
            <a:off x="640080" y="5833872"/>
            <a:ext cx="108813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our 16 events a moderate effect is caught 15% of the time. </a:t>
            </a:r>
            <a:pPr indent="0" marL="0">
              <a:buNone/>
            </a:pPr>
            <a:r>
              <a:rPr lang="en-US" sz="1300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Fixing the lag in advance cuts the events we need by a third — the cheapest win available.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ROADMAP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49808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21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 steps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719072"/>
            <a:ext cx="475488" cy="475488"/>
          </a:xfrm>
          <a:prstGeom prst="ellipse">
            <a:avLst/>
          </a:prstGeom>
          <a:solidFill>
            <a:srgbClr val="D94F0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792224"/>
            <a:ext cx="4754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25880" y="1709928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Settle the inclusion rule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4663440" y="1719072"/>
            <a:ext cx="6858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 what counts as an "announcement" — board approval, press note, or commissioning. This drives the row count more than more searching does.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40080" y="2587752"/>
            <a:ext cx="475488" cy="475488"/>
          </a:xfrm>
          <a:prstGeom prst="ellipse">
            <a:avLst/>
          </a:prstGeom>
          <a:solidFill>
            <a:srgbClr val="D94F0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" y="2660904"/>
            <a:ext cx="4754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2578608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Scale to the power target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4663440" y="2587752"/>
            <a:ext cx="6858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Systematic sweep of the filings corpus under that rule. We need 45–75 dated events; we have 22 dated, 16 inside the production window.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456432"/>
            <a:ext cx="475488" cy="475488"/>
          </a:xfrm>
          <a:prstGeom prst="ellipse">
            <a:avLst/>
          </a:prstGeom>
          <a:solidFill>
            <a:srgbClr val="0D94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3529584"/>
            <a:ext cx="4754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3447288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the panel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663440" y="3456432"/>
            <a:ext cx="6858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 production growth, registrations and announcements on month; state panel for the siting extension.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40080" y="4325112"/>
            <a:ext cx="475488" cy="475488"/>
          </a:xfrm>
          <a:prstGeom prst="ellipse">
            <a:avLst/>
          </a:prstGeom>
          <a:solidFill>
            <a:srgbClr val="0D94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0080" y="4398264"/>
            <a:ext cx="4754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325880" y="4315968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 the tests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4663440" y="4325112"/>
            <a:ext cx="6858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Lag pre-registered at k=3 rather than scanned, with the baseline and placebo checks. Achieved power beside every coefficient.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40080" y="5193792"/>
            <a:ext cx="475488" cy="475488"/>
          </a:xfrm>
          <a:prstGeom prst="ellipse">
            <a:avLst/>
          </a:prstGeom>
          <a:solidFill>
            <a:srgbClr val="0D94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0080" y="5266944"/>
            <a:ext cx="4754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325880" y="5184648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Write up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4663440" y="5193792"/>
            <a:ext cx="6858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70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Including the negative result on the investment source, which is a finding about alt-data coverage in its own right.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640080" y="598932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4F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 1 and 2 are the critical path. Everything downstream is blocked on how many dated events we can defensibly assemble.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3B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607040" y="-1097280"/>
            <a:ext cx="3840480" cy="3840480"/>
          </a:xfrm>
          <a:prstGeom prst="ellipse">
            <a:avLst/>
          </a:prstGeom>
          <a:solidFill>
            <a:srgbClr val="1150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5720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F0A9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· FOR DISCUSSION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68096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Problems we hit — and what we need from you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640080" y="1554480"/>
            <a:ext cx="6858000" cy="1371600"/>
          </a:xfrm>
          <a:prstGeom prst="roundRect">
            <a:avLst>
              <a:gd name="adj" fmla="val 4000"/>
            </a:avLst>
          </a:prstGeom>
          <a:solidFill>
            <a:srgbClr val="1150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4400" y="1700784"/>
            <a:ext cx="6309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0A9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dependent variable does not exist in the structured data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039112"/>
            <a:ext cx="6309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DA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industrial-investment source has 2 automotive rows ("Infra", "Non NIP worklist rejection"), 113 of 115 energy-storage rows are oil and gas, and every row shares one snapshot date — so it cannot form a time series regardless of content.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40080" y="3072384"/>
            <a:ext cx="6858000" cy="1371600"/>
          </a:xfrm>
          <a:prstGeom prst="roundRect">
            <a:avLst>
              <a:gd name="adj" fmla="val 4000"/>
            </a:avLst>
          </a:prstGeom>
          <a:solidFill>
            <a:srgbClr val="1150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4400" y="3218688"/>
            <a:ext cx="6309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0A9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substitute is too thin to regress on</a:t>
            </a:r>
            <a:endParaRPr lang="en-US" sz="1450" dirty="0"/>
          </a:p>
        </p:txBody>
      </p:sp>
      <p:sp>
        <p:nvSpPr>
          <p:cNvPr id="10" name="Text 8"/>
          <p:cNvSpPr txBox="1"/>
          <p:nvPr/>
        </p:nvSpPr>
        <p:spPr>
          <a:xfrm>
            <a:off x="914400" y="3557016"/>
            <a:ext cx="6309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DA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 events across 24 companies, hand-coded from filings. 22 carry a date better than a fiscal period, but only 16 land inside the 40-month production window — across 11 months. The power study says we need 45–75.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40080" y="4590288"/>
            <a:ext cx="6858000" cy="1371600"/>
          </a:xfrm>
          <a:prstGeom prst="roundRect">
            <a:avLst>
              <a:gd name="adj" fmla="val 4000"/>
            </a:avLst>
          </a:prstGeom>
          <a:solidFill>
            <a:srgbClr val="1150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4400" y="4736592"/>
            <a:ext cx="6309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0A9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silent data defects found during ingestion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914400" y="5074920"/>
            <a:ext cx="6309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DA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2026-08 production is incomplete (5 of 11 OEMs reported) and reads as an 88% collapse. The connector's row cap scales with row width, so a wider query silently returns fewer rows.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7818120" y="1554480"/>
            <a:ext cx="3721608" cy="4114800"/>
          </a:xfrm>
          <a:prstGeom prst="roundRect">
            <a:avLst>
              <a:gd name="adj" fmla="val 1474"/>
            </a:avLst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092440" y="181051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D94F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FOR STAKEHOLDERS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8092440" y="2221992"/>
            <a:ext cx="32004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4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there an investment or capex feed we have not been pointed at — project-level, PLI/ACC allocations, or state MoUs?</a:t>
            </a:r>
            <a:endParaRPr lang="en-US" sz="12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4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Would you accept exchange filings as the announcement source, and what should count as an "announcement"?</a:t>
            </a:r>
            <a:endParaRPr lang="en-US" sz="12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4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single-snapshot limitation on the project registry permanent, or is a historical series retrievable?</a:t>
            </a:r>
            <a:endParaRPr lang="en-US" sz="12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4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dated-event count stays well short of 45–75, do you prefer an underpowered national test or a pivot to the state panel?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59436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FB4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of this blocks the stretch question — the state panel has 3,216 clean rows and reconciles exactly.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EV Production and Ancillary Investment</dc:title>
  <dc:subject>PptxGenJS Presentation</dc:subject>
  <dc:creator>Haydn Stucker</dc:creator>
  <cp:lastModifiedBy>Haydn Stucker</cp:lastModifiedBy>
  <cp:revision>1</cp:revision>
  <dcterms:created xsi:type="dcterms:W3CDTF">2026-09-30T01:22:24Z</dcterms:created>
  <dcterms:modified xsi:type="dcterms:W3CDTF">2026-09-30T01:22:24Z</dcterms:modified>
</cp:coreProperties>
</file>