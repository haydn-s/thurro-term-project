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 registrations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131197</c:v>
                </c:pt>
                <c:pt idx="1">
                  <c:v>167917</c:v>
                </c:pt>
                <c:pt idx="2">
                  <c:v>126007</c:v>
                </c:pt>
                <c:pt idx="3">
                  <c:v>341279</c:v>
                </c:pt>
                <c:pt idx="4">
                  <c:v>1059660</c:v>
                </c:pt>
                <c:pt idx="5">
                  <c:v>1581708</c:v>
                </c:pt>
                <c:pt idx="6">
                  <c:v>2025425</c:v>
                </c:pt>
                <c:pt idx="7">
                  <c:v>2356222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54D-E94E-9616-6099DF74D2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0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00000"/>
        </c:scaling>
        <c:delete val="0"/>
        <c:axPos val="l"/>
        <c:majorGridlines>
          <c:spPr>
            <a:ln w="12700" cap="flat">
              <a:solidFill>
                <a:srgbClr val="DCE4E2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0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Large effect (RR 2.0)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16</c:v>
                </c:pt>
                <c:pt idx="1">
                  <c:v>25</c:v>
                </c:pt>
                <c:pt idx="2">
                  <c:v>35</c:v>
                </c:pt>
                <c:pt idx="3">
                  <c:v>50</c:v>
                </c:pt>
                <c:pt idx="4">
                  <c:v>65</c:v>
                </c:pt>
                <c:pt idx="5">
                  <c:v>80</c:v>
                </c:pt>
                <c:pt idx="6">
                  <c:v>100</c:v>
                </c:pt>
                <c:pt idx="7">
                  <c:v>120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54</c:v>
                </c:pt>
                <c:pt idx="1">
                  <c:v>80</c:v>
                </c:pt>
                <c:pt idx="2">
                  <c:v>93</c:v>
                </c:pt>
                <c:pt idx="3">
                  <c:v>99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EB-1F4B-9D3F-01292CE357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Moderate effect (RR 1.5)</c:v>
                </c:pt>
              </c:strCache>
            </c:strRef>
          </c:tx>
          <c:spPr>
            <a:ln w="38100" cap="flat">
              <a:solidFill>
                <a:srgbClr val="D94F0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4F04"/>
              </a:solidFill>
              <a:ln w="9525" cap="flat">
                <a:solidFill>
                  <a:srgbClr val="D94F04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16</c:v>
                </c:pt>
                <c:pt idx="1">
                  <c:v>25</c:v>
                </c:pt>
                <c:pt idx="2">
                  <c:v>35</c:v>
                </c:pt>
                <c:pt idx="3">
                  <c:v>50</c:v>
                </c:pt>
                <c:pt idx="4">
                  <c:v>65</c:v>
                </c:pt>
                <c:pt idx="5">
                  <c:v>80</c:v>
                </c:pt>
                <c:pt idx="6">
                  <c:v>100</c:v>
                </c:pt>
                <c:pt idx="7">
                  <c:v>120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15</c:v>
                </c:pt>
                <c:pt idx="1">
                  <c:v>28</c:v>
                </c:pt>
                <c:pt idx="2">
                  <c:v>42</c:v>
                </c:pt>
                <c:pt idx="3">
                  <c:v>61</c:v>
                </c:pt>
                <c:pt idx="4">
                  <c:v>75</c:v>
                </c:pt>
                <c:pt idx="5">
                  <c:v>84</c:v>
                </c:pt>
                <c:pt idx="6">
                  <c:v>92</c:v>
                </c:pt>
                <c:pt idx="7">
                  <c:v>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9EB-1F4B-9D3F-01292CE3570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Small effect (RR 1.25)</c:v>
                </c:pt>
              </c:strCache>
            </c:strRef>
          </c:tx>
          <c:spPr>
            <a:ln w="38100" cap="flat">
              <a:solidFill>
                <a:srgbClr val="7048C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048C4"/>
              </a:solidFill>
              <a:ln w="9525" cap="flat">
                <a:solidFill>
                  <a:srgbClr val="7048C4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16</c:v>
                </c:pt>
                <c:pt idx="1">
                  <c:v>25</c:v>
                </c:pt>
                <c:pt idx="2">
                  <c:v>35</c:v>
                </c:pt>
                <c:pt idx="3">
                  <c:v>50</c:v>
                </c:pt>
                <c:pt idx="4">
                  <c:v>65</c:v>
                </c:pt>
                <c:pt idx="5">
                  <c:v>80</c:v>
                </c:pt>
                <c:pt idx="6">
                  <c:v>100</c:v>
                </c:pt>
                <c:pt idx="7">
                  <c:v>120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4</c:v>
                </c:pt>
                <c:pt idx="1">
                  <c:v>7</c:v>
                </c:pt>
                <c:pt idx="2">
                  <c:v>10</c:v>
                </c:pt>
                <c:pt idx="3">
                  <c:v>17</c:v>
                </c:pt>
                <c:pt idx="4">
                  <c:v>22</c:v>
                </c:pt>
                <c:pt idx="5">
                  <c:v>26</c:v>
                </c:pt>
                <c:pt idx="6">
                  <c:v>35</c:v>
                </c:pt>
                <c:pt idx="7">
                  <c:v>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9EB-1F4B-9D3F-01292CE357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0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CE4E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0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F706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7321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15 seconds — set the frame and move on
• Question: does national EV production growth lead investment announcements
• Alt-data angle: production as an early signal of where capital gets committed
• Two parts: national (primary), state siting (stretch)
• All data via the Thurro connector, India only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~40 seconds. Say explicitly that the primary question is gradeable on its own
• X = monthly national EV production growth
• Y = count and value of new manufacturing-investment announcements
• The test is lead-lag: does X move first, and at what lag
• Stretch: does a state's demand share predict its share of announced capacity
• Honest caveat: siting may be incentive-driven, as the US IRA wave suggests
• So the project does not fail if the stretch answer is that incentives decide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~40 seconds. Three of four landed clean — point at the cards, do not narrate them
• Production: SIAM, 40 usable months, 2023-04 to 2026-07
• Registrations: VAHAN, 3,216 state-month rows, reconciles exactly to the national file
• Pricing: 654 variants, weekly from Nov 2025 — thinnest and least load-bearing
• The fourth was meant to be the dependent variable and is unusable
• Do not read the orange detail aloud — point at it, defer to the backup slide
• Substitute: 34 events hand-coded from exchange filings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~65 seconds — this one slide now carries all the EDA
• Open with scale: registrations grew about 18x from 2018 to 2025
• Peak month was 332,544 in July 2026
• Then complicate it: 62% two-wheelers, 27% three-wheelers, only 10% four-wheelers
• The capex we care about is four-wheelers and cell manufacturing
• So the demand signal and the capex signal may not track the same market
• Top-5 states hold 49% of demand, HHI 0.071 — enough for siting to be a fair question
• If asked for states: UP 14.2%, Maharashtra 11.2%, Karnataka 9.2%, Tamil Nadu 8.6%
• Lead test: +0.24 at k=0, -0.20 at k=1, +0.40 at k=2, n=39 — say plainly that is noise
• Cut for time: the production-coverage chart (27% to 60%) — raise it only if asked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~80 seconds. This is the slide that earns credit — spend your time here
• Success is a defensible answer, not a positive one
• A clean null is valid only if the test could have detected a lead
• Method: Poisson regression on monthly counts, lagged production growth
• Baseline uses their own lag plus a time trend; placebo shuffles dates within year
• The power study is done, not planned — that is the point to land
• At our 16 events a moderate effect is caught just 15% of the time
• 80% power needs about 73 events scanning six lags, about 48 if the lag is fixed
• Fixing the lag in advance is the cheapest win we have
• Real data at 16 events: no significant lead at any k, best p = 0.11
• Say it plainly — that is not evidence of no lead, it is an underpowered test
• If asked: false-positive rate checks out at 1.5-2.5%, solver validated against statsmodels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Steps 1 and 2 are the critical path — everything else waits on them
• Step 1: settle what counts as an announcement (board approval, press note, commissioning)
• Step 2: scale extraction toward 45-75 dated events
• We are at 22 dated, 16 inside the production window
• Step 3: build the month panel, plus the state panel for the stretch
• Step 4: run the tests with the lag pre-registered at k=3
• Step 5: write up, including the negative result on the investment source
• Close on this: the modelling is not the risk, the dependent variable 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Only pull this up if asked, or if time allows
• Problem 1: the dependent variable does not exist in the structured source
• Problem 2: the substitute is thin — 16 usable events against a 45-75 target
• Problem 3: two silent data defects found during ingestion
• The four questions are the real ask
• Q2 (the inclusion rule) unblocks the most work — push for an answer on that
• Q1 (a better capex feed) is highest value if the answer is yes
• Fallback if events stay well short of 45-75: pre-register the lag, or pivot to the state panel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11504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81360" y="4480560"/>
            <a:ext cx="2743200" cy="2743200"/>
          </a:xfrm>
          <a:prstGeom prst="ellipse">
            <a:avLst/>
          </a:prstGeom>
          <a:solidFill>
            <a:srgbClr val="11504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6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AIPI 590 · ALTERNATIVE DATA · PROJECT UPDATE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production and</a:t>
            </a:r>
            <a:endParaRPr lang="en-US" sz="46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ancillary investment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F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national growth in EV production predict new automotive-sector manufacturing-investment announcements?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852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Colby, </a:t>
            </a:r>
            <a:r>
              <a:rPr lang="en-US" sz="1200" dirty="0" err="1">
                <a:solidFill>
                  <a:srgbClr val="8FB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Xianyu</a:t>
            </a:r>
            <a:r>
              <a:rPr lang="en-US" sz="1200" dirty="0">
                <a:solidFill>
                  <a:srgbClr val="8FB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8FB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Keming</a:t>
            </a:r>
            <a:r>
              <a:rPr lang="en-US" sz="1200">
                <a:solidFill>
                  <a:srgbClr val="8FB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Haydn ·  </a:t>
            </a:r>
            <a:r>
              <a:rPr lang="en-US" sz="1200" dirty="0">
                <a:solidFill>
                  <a:srgbClr val="8FB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Duke Pratt School of Engineering  ·  Data: Thurro connector (India)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actually testing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more EVs roll off assembly lines nationally, is that a signal that automakers are about to commit capital to new plants — and does the same pattern predict which states land it?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F4F8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49631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463040" y="2478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418320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of effort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752344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EV production growth leads investment announcements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12724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monthly national EV production growth.  Y = count and value of new manufacturing-investment announcements.  A lead–lag test: does X move first?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06908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F4F8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400" y="4325112"/>
            <a:ext cx="384048" cy="384048"/>
          </a:xfrm>
          <a:prstGeom prst="ellipse">
            <a:avLst/>
          </a:prstGeom>
          <a:solidFill>
            <a:srgbClr val="7048C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463040" y="4306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704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418320" y="43068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of effort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581144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EV demand concentration explains where investment is sited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95604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state's share of EV demand predict its share of announced capacity — or do incentives decide siting instead, as the IRA gigafactory wave suggests?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question is national and stands alone. Siting is an extension, not a requirement.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TARGET DATASETS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named on the brief. Three delivered.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70048" cy="3200400"/>
          </a:xfrm>
          <a:prstGeom prst="roundRect">
            <a:avLst>
              <a:gd name="adj" fmla="val 2740"/>
            </a:avLst>
          </a:prstGeom>
          <a:solidFill>
            <a:srgbClr val="F4F8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1874520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298448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33172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production &amp; sales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127248"/>
            <a:ext cx="2157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 monthly production, domestic sales and exports by OEM and model.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26110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usable months · 2023-04 → 2026-07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600200"/>
            <a:ext cx="2670048" cy="3200400"/>
          </a:xfrm>
          <a:prstGeom prst="roundRect">
            <a:avLst>
              <a:gd name="adj" fmla="val 2740"/>
            </a:avLst>
          </a:prstGeom>
          <a:solidFill>
            <a:srgbClr val="F4F8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85032" y="1874520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087368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233172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State-level registrations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85032" y="3127248"/>
            <a:ext cx="2157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VAHAN registrations by state, segment and maker. Reconciles exactly to the national file.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685032" y="426110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3,216 rows · 36 states · 2018-01 → 2026-08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2670048" cy="3200400"/>
          </a:xfrm>
          <a:prstGeom prst="roundRect">
            <a:avLst>
              <a:gd name="adj" fmla="val 2740"/>
            </a:avLst>
          </a:prstGeom>
          <a:solidFill>
            <a:srgbClr val="F4F8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73952" y="1874520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876288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473952" y="233172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pricing &amp; specs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73952" y="3127248"/>
            <a:ext cx="2157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model-level prices, battery capacity and range for cars and two-wheelers.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73952" y="426110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654 variants · 2025-11 → 2026-09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06840" y="1600200"/>
            <a:ext cx="2670048" cy="3200400"/>
          </a:xfrm>
          <a:prstGeom prst="roundRect">
            <a:avLst>
              <a:gd name="adj" fmla="val 2740"/>
            </a:avLst>
          </a:prstGeom>
          <a:solidFill>
            <a:srgbClr val="FDF1E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262872" y="1874520"/>
            <a:ext cx="310896" cy="310896"/>
          </a:xfrm>
          <a:prstGeom prst="ellipse">
            <a:avLst/>
          </a:prstGeom>
          <a:solidFill>
            <a:srgbClr val="D94F0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9665208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D94F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USABLE DATA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9262872" y="233172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investment tracking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262872" y="3127248"/>
            <a:ext cx="2157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source of the dependent variable. Contains no EV content — see backup slide.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262872" y="426110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4F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Substitute: 34 hand-coded filing events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074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fourth dataset was meant to be the dependent variable. </a:t>
            </a:r>
            <a:r>
              <a:rPr lang="en-US" sz="130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whole automotive sector is two rows, titled "Infra" and "Non NIP worklist rejection". 113 of its 115 energy-storage rows are oil, gas and LNG. Nothing in it matches any EV or battery keyword.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INITIAL EDA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fast, mostly two-wheelers, and concentrated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45920"/>
          <a:ext cx="56235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61772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EV registrations, India (full years) — an 18× rise. 2026 is at 2.20M through August alone.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446520" y="1691640"/>
            <a:ext cx="2423160" cy="1481328"/>
          </a:xfrm>
          <a:prstGeom prst="roundRect">
            <a:avLst>
              <a:gd name="adj" fmla="val 4938"/>
            </a:avLst>
          </a:prstGeom>
          <a:solidFill>
            <a:srgbClr val="F4F8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473952" y="1819656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537960" y="240487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2026 EV volume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two-wheelers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116568" y="1691640"/>
            <a:ext cx="2423160" cy="1481328"/>
          </a:xfrm>
          <a:prstGeom prst="roundRect">
            <a:avLst>
              <a:gd name="adj" fmla="val 4938"/>
            </a:avLst>
          </a:prstGeom>
          <a:solidFill>
            <a:srgbClr val="F4F8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9144000" y="1819656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9208008" y="240487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three-wheelers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(largely e-rickshaw)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46520" y="3346704"/>
            <a:ext cx="2423160" cy="1481328"/>
          </a:xfrm>
          <a:prstGeom prst="roundRect">
            <a:avLst>
              <a:gd name="adj" fmla="val 4938"/>
            </a:avLst>
          </a:prstGeom>
          <a:solidFill>
            <a:srgbClr val="F4F8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473952" y="3474720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4F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405993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four-wheelers —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capex target segment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116568" y="3346704"/>
            <a:ext cx="2423160" cy="1481328"/>
          </a:xfrm>
          <a:prstGeom prst="roundRect">
            <a:avLst>
              <a:gd name="adj" fmla="val 4938"/>
            </a:avLst>
          </a:prstGeom>
          <a:solidFill>
            <a:srgbClr val="F4F8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9144000" y="3474720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9208008" y="405993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demand sits in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five states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r>
              <a:rPr lang="en-US" sz="130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is 2W/3W, but the announcements we care about are 4W and cell manufacturing. The demand signal and the capex signal may not be measuring the same market.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56509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lead test gives +0.24 at k=0, −0.20 at k=1, +0.40 at k=2. </a:t>
            </a:r>
            <a:r>
              <a:rPr lang="en-US" sz="130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Sign-alternating at n=39 — the machinery runs, but this reads as noise, not structure.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SUCCESS &amp; 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counts as an answer — and can we detect one?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0" cy="3977640"/>
          </a:xfrm>
          <a:prstGeom prst="roundRect">
            <a:avLst>
              <a:gd name="adj" fmla="val 1905"/>
            </a:avLst>
          </a:prstGeom>
          <a:solidFill>
            <a:srgbClr val="F4F8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0195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230428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is a defensible answer, not a positive one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08960"/>
            <a:ext cx="3291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"production does not lead announcements" is valid — but only if the test could have detected a lead.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regression on monthly announcement counts, with lagged production growth.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to beat: counts from their own lag plus a time trend.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Placebo: shuffle announcement dates within year; the lead must vanish.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709160" y="1645920"/>
          <a:ext cx="6830568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709160" y="4526280"/>
            <a:ext cx="683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power vs number of dated events, scanning lags k = 1…6. We have 16.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4864608"/>
            <a:ext cx="3337560" cy="758952"/>
          </a:xfrm>
          <a:prstGeom prst="roundRect">
            <a:avLst>
              <a:gd name="adj" fmla="val 9639"/>
            </a:avLst>
          </a:prstGeom>
          <a:solidFill>
            <a:srgbClr val="F4F8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736592" y="4992624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4F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~73 events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557784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80% power scanning six lags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202168" y="4864608"/>
            <a:ext cx="3337560" cy="758952"/>
          </a:xfrm>
          <a:prstGeom prst="roundRect">
            <a:avLst>
              <a:gd name="adj" fmla="val 9639"/>
            </a:avLst>
          </a:prstGeom>
          <a:solidFill>
            <a:srgbClr val="F4F8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229600" y="4992624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~48 events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8293608" y="557784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lag is fixed in advance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583387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our 16 events a moderate effect is caught 15% of the time. </a:t>
            </a:r>
            <a:r>
              <a:rPr lang="en-US" sz="130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the lag in advance cuts the events we need by a third — the cheapest win available.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475488" cy="475488"/>
          </a:xfrm>
          <a:prstGeom prst="ellipse">
            <a:avLst/>
          </a:prstGeom>
          <a:solidFill>
            <a:srgbClr val="D94F0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79222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 the inclusion rule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71907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counts as an "announcement" — board approval, press note, or commissioning. This drives the row count more than more searching does.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75488" cy="475488"/>
          </a:xfrm>
          <a:prstGeom prst="ellipse">
            <a:avLst/>
          </a:prstGeom>
          <a:solidFill>
            <a:srgbClr val="D94F0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266090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786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to the power target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58775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sweep of the filings corpus under that rule. We need 45–75 dated events; we have 22 dated, 16 inside the production window.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5643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352958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44728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panel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45643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production growth, registrations and announcements on month; state panel for the siting extension.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2511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0080" y="439826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3159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tests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432511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pre-registered at k=3 rather than scanned, with the baseline and placebo checks. Achieved power beside every coefficient.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19379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0080" y="526694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1846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up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519379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7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the negative result on the investment source, which is a finding about alt-data coverage in its own right.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097280"/>
            <a:ext cx="3840480" cy="3840480"/>
          </a:xfrm>
          <a:prstGeom prst="ellipse">
            <a:avLst/>
          </a:prstGeom>
          <a:solidFill>
            <a:srgbClr val="11504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F0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FOR DISCUSSION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6809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we hit — and what we need from you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858000" cy="1371600"/>
          </a:xfrm>
          <a:prstGeom prst="roundRect">
            <a:avLst>
              <a:gd name="adj" fmla="val 4000"/>
            </a:avLst>
          </a:prstGeom>
          <a:solidFill>
            <a:srgbClr val="11504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70078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A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dependent variable does not exist in the structured data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03911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industrial-investment source has 2 automotive rows ("Infra", "Non NIP worklist rejection"), 113 of 115 energy-storage rows are oil and gas, and every row shares one snapshot date — so it cannot form a time series regardless of content.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072384"/>
            <a:ext cx="6858000" cy="1371600"/>
          </a:xfrm>
          <a:prstGeom prst="roundRect">
            <a:avLst>
              <a:gd name="adj" fmla="val 4000"/>
            </a:avLst>
          </a:prstGeom>
          <a:solidFill>
            <a:srgbClr val="11504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14400" y="321868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A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substitute is too thin to regress on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55701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events across 24 companies, hand-coded from filings. 22 carry a date better than a fiscal period, but only 16 land inside the 40-month production window — across 11 months. The power study says we need 45–75.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590288"/>
            <a:ext cx="6858000" cy="1371600"/>
          </a:xfrm>
          <a:prstGeom prst="roundRect">
            <a:avLst>
              <a:gd name="adj" fmla="val 4000"/>
            </a:avLst>
          </a:prstGeom>
          <a:solidFill>
            <a:srgbClr val="11504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4736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A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silent data defects found during ingestion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07492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 production is incomplete (5 of 11 OEMs reported) and reads as an 88% collapse. The connector's row cap scales with row width, so a wider query silently returns fewer rows.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18120" y="1554480"/>
            <a:ext cx="3721608" cy="4114800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092440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D94F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STAKEHOLDERS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2221992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 investment or capex feed we have not been pointed at — project-level, PLI/ACC allocations, or state MoUs?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accept exchange filings as the announcement source, and what should count as an "announcement"?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single-snapshot limitation on the project registry permanent, or is a historical series retrievable?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dated-event count stays well short of 45–75, do you prefer an underpowered national test or a pivot to the state panel?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907024"/>
            <a:ext cx="7452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B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blocks the stretch question — the state panel has 3,216 clean rows and reconciles exactly.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5907024"/>
            <a:ext cx="3355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FB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design and layout generated with Claude (Anthropic Claude Code)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2000</Words>
  <Application>Microsoft Macintosh PowerPoint</Application>
  <PresentationFormat>Widescreen</PresentationFormat>
  <Paragraphs>112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Production and Ancillary Investment</dc:title>
  <dc:subject>PptxGenJS Presentation</dc:subject>
  <dc:creator>Haydn Stucker</dc:creator>
  <cp:lastModifiedBy>Haydn Stucker</cp:lastModifiedBy>
  <cp:revision>3</cp:revision>
  <dcterms:created xsi:type="dcterms:W3CDTF">2026-09-30T12:08:24Z</dcterms:created>
  <dcterms:modified xsi:type="dcterms:W3CDTF">2026-09-30T12:26:57Z</dcterms:modified>
</cp:coreProperties>
</file>