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  <c:pt idx="7">
                  <c:v>2025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00-2149-8C07-F82659B523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 effect (RR 2.0)</c:v>
                </c:pt>
              </c:strCache>
            </c:strRef>
          </c:tx>
          <c:spPr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16</c:v>
                </c:pt>
                <c:pt idx="1">
                  <c:v>25</c:v>
                </c:pt>
                <c:pt idx="2">
                  <c:v>35</c:v>
                </c:pt>
                <c:pt idx="3">
                  <c:v>50</c:v>
                </c:pt>
                <c:pt idx="4">
                  <c:v>65</c:v>
                </c:pt>
                <c:pt idx="5">
                  <c:v>80</c:v>
                </c:pt>
                <c:pt idx="6">
                  <c:v>100</c:v>
                </c:pt>
                <c:pt idx="7">
                  <c:v>120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80</c:v>
                </c:pt>
                <c:pt idx="2">
                  <c:v>93</c:v>
                </c:pt>
                <c:pt idx="3">
                  <c:v>99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82E-F34D-A216-78E38D56F3F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Moderate effect (RR 1.5)</c:v>
                </c:pt>
              </c:strCache>
            </c:strRef>
          </c:tx>
          <c:spPr>
            <a:ln w="38100" cap="flat">
              <a:solidFill>
                <a:srgbClr val="D94F0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94F04"/>
              </a:solidFill>
              <a:ln w="9525" cap="flat">
                <a:solidFill>
                  <a:srgbClr val="D94F04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16</c:v>
                </c:pt>
                <c:pt idx="1">
                  <c:v>25</c:v>
                </c:pt>
                <c:pt idx="2">
                  <c:v>35</c:v>
                </c:pt>
                <c:pt idx="3">
                  <c:v>50</c:v>
                </c:pt>
                <c:pt idx="4">
                  <c:v>65</c:v>
                </c:pt>
                <c:pt idx="5">
                  <c:v>80</c:v>
                </c:pt>
                <c:pt idx="6">
                  <c:v>100</c:v>
                </c:pt>
                <c:pt idx="7">
                  <c:v>120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</c:v>
                </c:pt>
                <c:pt idx="1">
                  <c:v>28</c:v>
                </c:pt>
                <c:pt idx="2">
                  <c:v>42</c:v>
                </c:pt>
                <c:pt idx="3">
                  <c:v>61</c:v>
                </c:pt>
                <c:pt idx="4">
                  <c:v>75</c:v>
                </c:pt>
                <c:pt idx="5">
                  <c:v>84</c:v>
                </c:pt>
                <c:pt idx="6">
                  <c:v>92</c:v>
                </c:pt>
                <c:pt idx="7">
                  <c:v>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2E-F34D-A216-78E38D56F3F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 effect (RR 1.25)</c:v>
                </c:pt>
              </c:strCache>
            </c:strRef>
          </c:tx>
          <c:spPr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16</c:v>
                </c:pt>
                <c:pt idx="1">
                  <c:v>25</c:v>
                </c:pt>
                <c:pt idx="2">
                  <c:v>35</c:v>
                </c:pt>
                <c:pt idx="3">
                  <c:v>50</c:v>
                </c:pt>
                <c:pt idx="4">
                  <c:v>65</c:v>
                </c:pt>
                <c:pt idx="5">
                  <c:v>80</c:v>
                </c:pt>
                <c:pt idx="6">
                  <c:v>100</c:v>
                </c:pt>
                <c:pt idx="7">
                  <c:v>120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17</c:v>
                </c:pt>
                <c:pt idx="4">
                  <c:v>22</c:v>
                </c:pt>
                <c:pt idx="5">
                  <c:v>26</c:v>
                </c:pt>
                <c:pt idx="6">
                  <c:v>35</c:v>
                </c:pt>
                <c:pt idx="7">
                  <c:v>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2E-F34D-A216-78E38D56F3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53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15 seconds — set the frame and move on
• Question: does national EV production growth lead investment announcements
• Alt-data angle: production as an early signal of where capital gets committed
• Two parts: national (primary), state siting (stretch)
• All data via the Thurro connector, India only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~40 seconds. Say explicitly that the primary question is gradeable on its own
• X = monthly national EV production growth
• Y = count and value of new manufacturing-investment announcements
• The test is lead-lag: does X move first, and at what lag
• Stretch: does a state's demand share predict its share of announced capacity
• Honest caveat: siting may be incentive-driven, as the US IRA wave suggests
• So the project does not fail if the stretch answer is that incentives decide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~40 seconds. Three of four landed clean — point at the cards, do not narrate them
• Production: SIAM, 40 usable months, 2023-04 to 2026-07
• Registrations: VAHAN, 3,216 state-month rows, reconciles exactly to the national file
• Pricing: 654 variants, weekly from Nov 2025 — thinnest and least load-bearing
• The fourth was meant to be the dependent variable and is unusable
• Do not read the orange detail aloud — point at it, defer to the backup slide
• Substitute: 34 events hand-coded from exchange filings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~65 seconds — this one slide now carries all the EDA
• Open with scale: registrations grew about 18x from 2018 to 2025
• Peak month was 332,544 in July 2026
• Then complicate it: 62% two-wheelers, 27% three-wheelers, only 10% four-wheelers
• The capex we care about is four-wheelers and cell manufacturing
• So the demand signal and the capex signal may not track the same market
• Top-5 states hold 49% of demand, HHI 0.071 — enough for siting to be a fair question
• If asked for states: UP 14.2%, Maharashtra 11.2%, Karnataka 9.2%, Tamil Nadu 8.6%
• Lead test: +0.24 at k=0, -0.20 at k=1, +0.40 at k=2, n=39 — say plainly that is noise
• Cut for time: the production-coverage chart (27% to 60%) — raise it only 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~80 seconds. This is the slide that earns credit — spend your time here
• Success is a defensible answer, not a positive one
• A clean null is valid only if the test could have detected a lead
• Method: Poisson regression on monthly counts, lagged production growth
• Baseline uses their own lag plus a time trend; placebo shuffles dates within year
• The power study is done, not planned — that is the point to land
• At our 16 events a moderate effect is caught just 15% of the time
• 80% power needs about 73 events scanning six lags, about 48 if the lag is fixed
• Fixing the lag in advance is the cheapest win we have
• Real data at 16 events: no significant lead at any k, best p = 0.11
• Say it plainly — that is not evidence of no lead, it is an underpowered test
• If asked: false-positive rate checks out at 1.5-2.5%, solver validated against statsmodels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~35 seconds. Steps 1 and 2 are the critical path — everything else waits on them
• Step 1: settle what counts as an announcement (board approval, press note, commissioning)
• Step 2: scale extraction toward 45-75 dated events
• We are at 22 dated, 16 inside the production window
• Step 3: build the month panel, plus the state panel for the stretch
• Step 4: run the tests with the lag pre-registered at k=3
• Step 5: write up, including the negative result on the investment source
• Close on this: the modelling is not the risk, the dependent variable 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Only pull this up if asked, or if time allows
• Problem 1: the dependent variable does not exist in the structured source
• Problem 2: the substitute is thin — 16 usable events against a 45-75 target
• Problem 3: two silent data defects found during ingestion
• The four questions are the real ask
• Q2 (the inclusion rule) unblocks the most work — push for an answer on that
• Q1 (a better capex feed) is highest value if the answer is yes
• Fallback if events stay well short of 45-75: pre-register the lag, or pivot to the state panel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Colby, Xianyu, Keming, Haydn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34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fast, mostly two-wheelers, and concentrated</a:t>
            </a:r>
            <a:endParaRPr lang="en-US" sz="3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645920"/>
          <a:ext cx="56235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617720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 — an 18× rise.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691640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6473952" y="1819656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404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116568" y="1691640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9144000" y="1819656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208008" y="2404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46520" y="3346704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473952" y="34747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5993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16568" y="3346704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9144000" y="34747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208008" y="405993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demand sits in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five states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announcements we care about are 4W and cell manufacturing. The demand signal and the capex signal may not be measuring the same market.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650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lead test gives +0.24 at k=0, −0.20 at k=1, +0.40 at k=2. </a:t>
            </a: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n=39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an answer — and can we detect one?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840480" cy="3977640"/>
          </a:xfrm>
          <a:prstGeom prst="roundRect">
            <a:avLst>
              <a:gd name="adj" fmla="val 1905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019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2304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valid — but only if the test could have detected a lead.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regression on monthly announcement counts, with lagged production growth.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counts from their own lag plus a time trend.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4709160" y="1645920"/>
          <a:ext cx="6830568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4526280"/>
            <a:ext cx="683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power vs number of dated events, scanning lags k = 1…6. We have 16.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736592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 events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power scanning six lags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02168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229600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 events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93608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lag is fixed in advance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833872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16 events a moderate effect is caught 15% of the time. </a:t>
            </a: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lag in advance cuts the events we need by a third — the cheapest win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the power target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under that rule. We need 45–75 dated events; we have 22 dated, 16 inside the production window.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pre-registered at k=3 rather than scanned, with the baseline and placebo checks. Achieved power beside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8D6DF415-B2F2-7FF5-B6B7-A65FAFE9E3FE}"/>
              </a:ext>
            </a:extLst>
          </p:cNvPr>
          <p:cNvSpPr txBox="1"/>
          <p:nvPr/>
        </p:nvSpPr>
        <p:spPr>
          <a:xfrm>
            <a:off x="7799832" y="6062472"/>
            <a:ext cx="3721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Slide design and layout generated with Claude (Anthropic Claude Code)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B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events across 24 companies, hand-coded from filings. 22 carry a date better than a fiscal period, but only 16 land inside the 40-month production window — across 11 months. The power study says we need 45–75.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well short of 45–75,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07024"/>
            <a:ext cx="7452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5907024"/>
            <a:ext cx="3721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design and layout generated with Claude (Anthropic Claude Code)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2016</Words>
  <Application>Microsoft Macintosh PowerPoint</Application>
  <PresentationFormat>Widescreen</PresentationFormat>
  <Paragraphs>113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2</cp:revision>
  <dcterms:created xsi:type="dcterms:W3CDTF">2026-09-30T12:44:51Z</dcterms:created>
  <dcterms:modified xsi:type="dcterms:W3CDTF">2026-09-30T17:23:02Z</dcterms:modified>
</cp:coreProperties>
</file>