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 registrations</c:v>
                </c:pt>
              </c:strCache>
            </c:strRef>
          </c:tx>
          <c:spPr>
            <a:solidFill>
              <a:srgbClr val="0D9488"/>
            </a:solidFill>
            <a:ln w="381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131197</c:v>
                </c:pt>
                <c:pt idx="1">
                  <c:v>167917</c:v>
                </c:pt>
                <c:pt idx="2">
                  <c:v>126007</c:v>
                </c:pt>
                <c:pt idx="3">
                  <c:v>341279</c:v>
                </c:pt>
                <c:pt idx="4">
                  <c:v>1059660</c:v>
                </c:pt>
                <c:pt idx="5">
                  <c:v>1581708</c:v>
                </c:pt>
                <c:pt idx="6">
                  <c:v>2025425</c:v>
                </c:pt>
                <c:pt idx="7">
                  <c:v>2356222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000"/>
        </c:scaling>
        <c:delete val="0"/>
        <c:axPos val="l"/>
        <c:majorGridlines>
          <c:spPr>
            <a:ln w="12700" cap="flat">
              <a:solidFill>
                <a:srgbClr val="DCE4E2"/>
              </a:solidFill>
              <a:prstDash val="solid"/>
              <a:round/>
            </a:ln>
          </c:spPr>
        </c:majorGridlines>
        <c:numFmt formatCode="#,##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2026 EV registrations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F706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Uttar Pradesh</c:v>
                  </c:pt>
                  <c:pt idx="1">
                    <c:v>Maharashtra</c:v>
                  </c:pt>
                  <c:pt idx="2">
                    <c:v>Karnataka</c:v>
                  </c:pt>
                  <c:pt idx="3">
                    <c:v>Tamil Nadu</c:v>
                  </c:pt>
                  <c:pt idx="4">
                    <c:v>Madhya Pradesh</c:v>
                  </c:pt>
                  <c:pt idx="5">
                    <c:v>Rajasthan</c:v>
                  </c:pt>
                  <c:pt idx="6">
                    <c:v>West Bengal</c:v>
                  </c:pt>
                  <c:pt idx="7">
                    <c:v>Bihar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14.2</c:v>
                </c:pt>
                <c:pt idx="1">
                  <c:v>11.2</c:v>
                </c:pt>
                <c:pt idx="2">
                  <c:v>9.2</c:v>
                </c:pt>
                <c:pt idx="3">
                  <c:v>8.6</c:v>
                </c:pt>
                <c:pt idx="4">
                  <c:v>5.8</c:v>
                </c:pt>
                <c:pt idx="5">
                  <c:v>5.1</c:v>
                </c:pt>
                <c:pt idx="6">
                  <c:v>5</c:v>
                </c:pt>
                <c:pt idx="7">
                  <c:v>4.7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5F706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as % of registrations</c:v>
                </c:pt>
              </c:strCache>
            </c:strRef>
          </c:tx>
          <c:spPr>
            <a:solidFill>
              <a:srgbClr val="7048C4"/>
            </a:solidFill>
            <a:ln w="38100" cap="flat">
              <a:solidFill>
                <a:srgbClr val="7048C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048C4"/>
              </a:solidFill>
              <a:ln w="9525" cap="flat">
                <a:solidFill>
                  <a:srgbClr val="7048C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23Q2</c:v>
                  </c:pt>
                  <c:pt idx="1">
                    <c:v>23Q3</c:v>
                  </c:pt>
                  <c:pt idx="2">
                    <c:v>23Q4</c:v>
                  </c:pt>
                  <c:pt idx="3">
                    <c:v>24Q1</c:v>
                  </c:pt>
                  <c:pt idx="4">
                    <c:v>24Q2</c:v>
                  </c:pt>
                  <c:pt idx="5">
                    <c:v>24Q3</c:v>
                  </c:pt>
                  <c:pt idx="6">
                    <c:v>24Q4</c:v>
                  </c:pt>
                  <c:pt idx="7">
                    <c:v>25Q1</c:v>
                  </c:pt>
                  <c:pt idx="8">
                    <c:v>25Q2</c:v>
                  </c:pt>
                  <c:pt idx="9">
                    <c:v>25Q3</c:v>
                  </c:pt>
                  <c:pt idx="10">
                    <c:v>25Q4</c:v>
                  </c:pt>
                  <c:pt idx="11">
                    <c:v>26Q1</c:v>
                  </c:pt>
                  <c:pt idx="12">
                    <c:v>26Q2</c:v>
                  </c:pt>
                  <c:pt idx="13">
                    <c:v>26Q3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26.5</c:v>
                </c:pt>
                <c:pt idx="1">
                  <c:v>34.9</c:v>
                </c:pt>
                <c:pt idx="2">
                  <c:v>27.6</c:v>
                </c:pt>
                <c:pt idx="3">
                  <c:v>25.7</c:v>
                </c:pt>
                <c:pt idx="4">
                  <c:v>33.9</c:v>
                </c:pt>
                <c:pt idx="5">
                  <c:v>44.6</c:v>
                </c:pt>
                <c:pt idx="6">
                  <c:v>37.7</c:v>
                </c:pt>
                <c:pt idx="7">
                  <c:v>44.8</c:v>
                </c:pt>
                <c:pt idx="8">
                  <c:v>42.9</c:v>
                </c:pt>
                <c:pt idx="9">
                  <c:v>49.1</c:v>
                </c:pt>
                <c:pt idx="10">
                  <c:v>49.4</c:v>
                </c:pt>
                <c:pt idx="11">
                  <c:v>53.8</c:v>
                </c:pt>
                <c:pt idx="12">
                  <c:v>54.1</c:v>
                </c:pt>
                <c:pt idx="13">
                  <c:v>59.9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12700" cap="flat">
              <a:solidFill>
                <a:srgbClr val="DCE4E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 effect (RR 2.0)</c:v>
                </c:pt>
              </c:strCache>
            </c:strRef>
          </c:tx>
          <c:spPr>
            <a:solidFill>
              <a:srgbClr val="0D9488"/>
            </a:solidFill>
            <a:ln w="381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16</c:v>
                  </c:pt>
                  <c:pt idx="1">
                    <c:v>25</c:v>
                  </c:pt>
                  <c:pt idx="2">
                    <c:v>35</c:v>
                  </c:pt>
                  <c:pt idx="3">
                    <c:v>50</c:v>
                  </c:pt>
                  <c:pt idx="4">
                    <c:v>65</c:v>
                  </c:pt>
                  <c:pt idx="5">
                    <c:v>80</c:v>
                  </c:pt>
                  <c:pt idx="6">
                    <c:v>100</c:v>
                  </c:pt>
                  <c:pt idx="7">
                    <c:v>120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54</c:v>
                </c:pt>
                <c:pt idx="1">
                  <c:v>80</c:v>
                </c:pt>
                <c:pt idx="2">
                  <c:v>93</c:v>
                </c:pt>
                <c:pt idx="3">
                  <c:v>99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Moderate effect (RR 1.5)</c:v>
                </c:pt>
              </c:strCache>
            </c:strRef>
          </c:tx>
          <c:spPr>
            <a:solidFill>
              <a:srgbClr val="D94F04"/>
            </a:solidFill>
            <a:ln w="38100" cap="flat">
              <a:solidFill>
                <a:srgbClr val="D94F0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4F04"/>
              </a:solidFill>
              <a:ln w="9525" cap="flat">
                <a:solidFill>
                  <a:srgbClr val="D94F0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16</c:v>
                  </c:pt>
                  <c:pt idx="1">
                    <c:v>25</c:v>
                  </c:pt>
                  <c:pt idx="2">
                    <c:v>35</c:v>
                  </c:pt>
                  <c:pt idx="3">
                    <c:v>50</c:v>
                  </c:pt>
                  <c:pt idx="4">
                    <c:v>65</c:v>
                  </c:pt>
                  <c:pt idx="5">
                    <c:v>80</c:v>
                  </c:pt>
                  <c:pt idx="6">
                    <c:v>100</c:v>
                  </c:pt>
                  <c:pt idx="7">
                    <c:v>120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15</c:v>
                </c:pt>
                <c:pt idx="1">
                  <c:v>28</c:v>
                </c:pt>
                <c:pt idx="2">
                  <c:v>42</c:v>
                </c:pt>
                <c:pt idx="3">
                  <c:v>61</c:v>
                </c:pt>
                <c:pt idx="4">
                  <c:v>75</c:v>
                </c:pt>
                <c:pt idx="5">
                  <c:v>84</c:v>
                </c:pt>
                <c:pt idx="6">
                  <c:v>92</c:v>
                </c:pt>
                <c:pt idx="7">
                  <c:v>96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Small effect (RR 1.25)</c:v>
                </c:pt>
              </c:strCache>
            </c:strRef>
          </c:tx>
          <c:spPr>
            <a:solidFill>
              <a:srgbClr val="7048C4"/>
            </a:solidFill>
            <a:ln w="38100" cap="flat">
              <a:solidFill>
                <a:srgbClr val="7048C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048C4"/>
              </a:solidFill>
              <a:ln w="9525" cap="flat">
                <a:solidFill>
                  <a:srgbClr val="7048C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16</c:v>
                  </c:pt>
                  <c:pt idx="1">
                    <c:v>25</c:v>
                  </c:pt>
                  <c:pt idx="2">
                    <c:v>35</c:v>
                  </c:pt>
                  <c:pt idx="3">
                    <c:v>50</c:v>
                  </c:pt>
                  <c:pt idx="4">
                    <c:v>65</c:v>
                  </c:pt>
                  <c:pt idx="5">
                    <c:v>80</c:v>
                  </c:pt>
                  <c:pt idx="6">
                    <c:v>100</c:v>
                  </c:pt>
                  <c:pt idx="7">
                    <c:v>120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4</c:v>
                </c:pt>
                <c:pt idx="1">
                  <c:v>7</c:v>
                </c:pt>
                <c:pt idx="2">
                  <c:v>10</c:v>
                </c:pt>
                <c:pt idx="3">
                  <c:v>17</c:v>
                </c:pt>
                <c:pt idx="4">
                  <c:v>22</c:v>
                </c:pt>
                <c:pt idx="5">
                  <c:v>26</c:v>
                </c:pt>
                <c:pt idx="6">
                  <c:v>35</c:v>
                </c:pt>
                <c:pt idx="7">
                  <c:v>44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DCE4E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706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30 seconds here — set the frame and move on
• Question: does national EV production growth lead investment announcements
• Alt-data angle: production as an early signal of where capital gets committed
• Two parts: national (primary), state siting (stretch)
• All data via the Thurro connector, India only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explicitly that the primary question is gradeable on its own
• X = monthly national EV production growth
• Y = count and value of new manufacturing-investment announcements
• The test is lead-lag: does X move first, and at what lag
• Stretch: does a state's demand share predict its share of announced capacity
• Honest caveat: siting may be incentive-driven, as the US IRA wave suggests
• So the project does not fail if the stretch answer is that incentives decide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of four datasets landed clean — do not dwell, 60 seconds max
• Production: SIAM, 40 usable months, 2023-04 to 2026-07
• Registrations: VAHAN, 3,216 state-month rows, reconciles exactly to the national file
• Pricing: 654 variants, weekly from Nov 2025 — thinnest and least load-bearing
• The fourth was meant to be the dependent variable and is unusable
• Do not read the orange detail aloud — point at it, defer to the backup slide
• Substitute: 34 events hand-coded from exchange filings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Lead with the growth, then immediately complicate it
• Registrations grew about 18x from 2018 to 2025
• Peak month was 332,544 in July 2026
• But the mix is 62% two-wheelers, 27% three-wheelers, only 10% four-wheelers
• The capex we care about is four-wheelers and cell manufacturing
• So the demand signal and the capex signal may not track the same market
• This is a real analytical risk, not a footnote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points: siting is a fair question, and the machinery is built
• Top-5 states hold 49% of demand, HHI 0.071 — concentrated but not extreme
• UP 14.2%, Maharashtra 11.2%, Karnataka 9.2%, Tamil Nadu 8.6%
• Production coverage of registrations rose from 27% to 60%
• Four-wheeler EVs still under-captured: ICE and EV share one nameplate in the feed
• Lead test runs: +0.24 at k=0, -0.20 at k=1, +0.40 at k=2, n=39
• Be honest — signs alternate, so that is noise, not a result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slide that earns credit — spend your time here
• Success is a defensible answer, not a positive one
• A clean null is valid only if the test could have detected a lead
• Method: Poisson regression on monthly counts, lagged production growth
• Baseline uses their own lag plus a time trend; placebo shuffles dates within year
• The power study is done, not planned — that is the point to land
• At our 16 events a moderate effect is caught just 15% of the time
• 80% power needs about 73 events scanning six lags, about 48 if the lag is fixed
• Fixing the lag in advance is the cheapest win we have
• Real data at 16 events: no significant lead at any k, best p = 0.11
• Say it plainly — that is not evidence of no lead, it is an underpowered test
• If asked: false-positive rate checks out at 1.5-2.5%, solver validated against statsmodels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Steps 1 and 2 are the critical path — everything else waits on them
• Step 1: settle what counts as an announcement (board approval, press note, commissioning)
• Step 2: scale extraction toward 45-75 dated events
• We are at 22 dated, 16 inside the production window
• Step 3: build the month panel, plus the state panel for the stretch
• Step 4: run the tests with the lag pre-registered at k=3
• Step 5: write up, including the negative result on the investment source
• Close on this: the modelling is not the risk, the dependent variable 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Only pull this up if asked, or if time allows
• Problem 1: the dependent variable does not exist in the structured source
• Problem 2: the substitute is thin — 16 usable events against a 45-75 target
• Problem 3: two silent data defects found during ingestion
• The four questions are the real ask
• Q2 (the inclusion rule) unblocks the most work — push for an answer on that
• Q1 (a better capex feed) is highest value if the answer is yes
• Fallback if events stay well short of 45-75: pre-register the lag, or pivot to the state panel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371600"/>
            <a:ext cx="4754880" cy="4754880"/>
          </a:xfrm>
          <a:prstGeom prst="ellipse">
            <a:avLst/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480560"/>
            <a:ext cx="2743200" cy="2743200"/>
          </a:xfrm>
          <a:prstGeom prst="ellipse">
            <a:avLst/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6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AIPI 590 · ALTERNATIVE DATA · PROJECT UPDATE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8778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 production and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ancillary investment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03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D9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national growth in EV production predict new automotive-sector manufacturing-investment announcements?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8521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Haydn Stucker  ·  Duke Pratt School of Engineering  ·  Data: Thurro connector (India)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actually testing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more EVs roll off assembly lines nationally, is that a signal that automakers are about to commit capital to new plants — and does the same pattern predict which states land it?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496312"/>
            <a:ext cx="384048" cy="38404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63040" y="2478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418320" y="24780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effort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5234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National EV production growth leads investment announcements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127248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monthly national EV production growth.  Y = count and value of new manufacturing-investment announcements.  A lead–lag test: does X move first?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06908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325112"/>
            <a:ext cx="384048" cy="384048"/>
          </a:xfrm>
          <a:prstGeom prst="ellipse">
            <a:avLst/>
          </a:prstGeom>
          <a:solidFill>
            <a:srgbClr val="7048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63040" y="43068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704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0" y="43068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 of effort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8114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EV demand concentration explains where investment is sited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956048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state's share of EV demand predict its share of announced capacity — or do incentives decide siting instead, as the IRA gigafactory wave suggests?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question is national and stands alone. Siting is an extension, not a requirement.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TARGET DATASETS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named on the brief. Three delivered.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87452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9844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National production &amp; sales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SIAM monthly production, domestic sales and exports by OEM and model.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usable months · 2023-04 → 2026-07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900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85032" y="187452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8736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68503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State-level registrations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8503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VAHAN registrations by state, segment and maker. Reconciles exactly to the national file.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68503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3,216 rows · 36 states · 2018-01 → 2026-08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73952" y="187452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7628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47395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 pricing &amp; specs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model-level prices, battery capacity and range for cars and two-wheelers.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7395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654 variants · 2025-11 → 2026-09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0684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DF1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62872" y="1874520"/>
            <a:ext cx="310896" cy="310896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6520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USABLE DATA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926287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 investment tracking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26287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Intended source of the dependent variable. Contains no EV content — see backup slide.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26287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Substitute: 34 hand-coded filing events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fourth dataset was meant to be the dependent variable.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whole automotive sector is two rows, titled "Infra" and "Non NIP worklist rejection". 113 of its 115 energy-storage rows are oil, gas and LNG. Nothing in it matches any EV or battery keyword.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INITIAL EDA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market is growing fast — and is mostly two-wheelers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6751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8920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EV registrations, India (full years). 2026 is at 2.20M through August alone.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635240" y="1691640"/>
            <a:ext cx="187452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62672" y="1819656"/>
            <a:ext cx="1819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62%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240487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2026 EV volume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two-wheelers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9665208" y="1691640"/>
            <a:ext cx="187452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92640" y="1819656"/>
            <a:ext cx="1819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27%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9756648" y="240487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three-wheelers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(largely e-rickshaw)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635240" y="3346704"/>
            <a:ext cx="187452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62672" y="3474720"/>
            <a:ext cx="1819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4F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7726680" y="405993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four-wheelers —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capex target segment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665208" y="3346704"/>
            <a:ext cx="187452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692640" y="3474720"/>
            <a:ext cx="1819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18×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9756648" y="405993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growth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 → 2025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volume is 2W/3W, but the investment announcements we care about are concentrated in 4W and cell manufacturing. The demand signal and the capex signal may not be measuring the same market.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INITIAL EDA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 is concentrated; the production feed is catching up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53949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257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 states take 49% of national EV registrations (HHI 0.071).</a:t>
            </a:r>
            <a:endParaRPr lang="en-US" sz="105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6400800" y="164592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00800" y="5257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coverage of registrations rose 27% → 60%. Four-wheeler EVs remain structurally under-captured.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585216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lead test on the proxy pair gives +0.24 at k=0, −0.20 at k=1, +0.40 at k=2.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Sign-alternating at n=39 — the machinery runs, but this reads as noise, not structure.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SUCCESS &amp; 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an answer — and can we detect one?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840480" cy="3977640"/>
          </a:xfrm>
          <a:prstGeom prst="roundRect">
            <a:avLst>
              <a:gd name="adj" fmla="val 1905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01952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3042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is a defensible answer, not a positive one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08960"/>
            <a:ext cx="3291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"production does not lead announcements" is valid — but only if the test could have detected a lead.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regression on monthly announcement counts, with lagged production growth.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to beat: counts from their own lag plus a time trend.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Placebo: shuffle announcement dates within year; the lead must vanish.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709160" y="1645920"/>
          <a:ext cx="6830568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709160" y="4526280"/>
            <a:ext cx="683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power vs number of dated events, scanning lags k = 1…6. We have 16.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09160" y="4864608"/>
            <a:ext cx="3337560" cy="758952"/>
          </a:xfrm>
          <a:prstGeom prst="roundRect">
            <a:avLst>
              <a:gd name="adj" fmla="val 9639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36592" y="4992624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4F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~73 events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4800600" y="5577840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80% power scanning six lags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202168" y="4864608"/>
            <a:ext cx="3337560" cy="758952"/>
          </a:xfrm>
          <a:prstGeom prst="roundRect">
            <a:avLst>
              <a:gd name="adj" fmla="val 9639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0" y="4992624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~48 events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8293608" y="5577840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lag is fixed in advance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5833872"/>
            <a:ext cx="10881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our 16 events a moderate effect is caught 15% of the time.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Fixing the lag in advance cuts the events we need by a third — the cheapest win available.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475488" cy="475488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79222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0992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Settle the inclusion rule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71907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what counts as an "announcement" — board approval, press note, or commissioning. This drives the row count more than more searching does.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475488" cy="475488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66090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786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to the power target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58775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sweep of the filings corpus under that rule. We need 45–75 dated events; we have 22 dated, 16 inside the production window.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45643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52958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447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panel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34564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production growth, registrations and announcements on month; state panel for the siting extension.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32511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39826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31596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tests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432511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pre-registered at k=3 rather than scanned, with the baseline and placebo checks. Achieved power beside every coefficient.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19379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526694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1846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up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663440" y="519379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negative result on the investment source, which is a finding about alt-data coverage in its own right.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 and 2 are the critical path. Everything downstream is blocked on how many dated events we can defensibly assemble.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0A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FOR DISCUSSION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6809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Problems we hit — and what we need from you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6858000" cy="1371600"/>
          </a:xfrm>
          <a:prstGeom prst="roundRect">
            <a:avLst>
              <a:gd name="adj" fmla="val 4000"/>
            </a:avLst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700784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A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dependent variable does not exist in the structured data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03911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industrial-investment source has 2 automotive rows ("Infra", "Non NIP worklist rejection"), 113 of 115 energy-storage rows are oil and gas, and every row shares one snapshot date — so it cannot form a time series regardless of content.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072384"/>
            <a:ext cx="6858000" cy="1371600"/>
          </a:xfrm>
          <a:prstGeom prst="roundRect">
            <a:avLst>
              <a:gd name="adj" fmla="val 4000"/>
            </a:avLst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21868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A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substitute is too thin to regress on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55701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events across 24 companies, hand-coded from filings. 22 carry a date better than a fiscal period, but only 16 land inside the 40-month production window — across 11 months. The power study says we need 45–75.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4590288"/>
            <a:ext cx="6858000" cy="1371600"/>
          </a:xfrm>
          <a:prstGeom prst="roundRect">
            <a:avLst>
              <a:gd name="adj" fmla="val 4000"/>
            </a:avLst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736592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A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silent data defects found during ingestion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507492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 production is incomplete (5 of 11 OEMs reported) and reads as an 88% collapse. The connector's row cap scales with row width, so a wider query silently returns fewer rows.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1554480"/>
            <a:ext cx="3721608" cy="4114800"/>
          </a:xfrm>
          <a:prstGeom prst="roundRect">
            <a:avLst>
              <a:gd name="adj" fmla="val 147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92440" y="18105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FOR STAKEHOLDERS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092440" y="2221992"/>
            <a:ext cx="3200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 investment or capex feed we have not been pointed at — project-level, PLI/ACC allocations, or state MoUs?</a:t>
            </a:r>
            <a:endParaRPr lang="en-US" sz="12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accept exchange filings as the announcement source, and what should count as an "announcement"?</a:t>
            </a:r>
            <a:endParaRPr lang="en-US" sz="12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single-snapshot limitation on the project registry permanent, or is a historical series retrievable?</a:t>
            </a:r>
            <a:endParaRPr lang="en-US" sz="12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dated-event count stays well short of 45–75, do you prefer an underpowered national test or a pivot to the state panel?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907024"/>
            <a:ext cx="7452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B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blocks the stretch question — the state panel has 3,216 clean rows and reconciles exactly.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5907024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B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design and layout generated with Claude (Anthropic Claude Code)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 Production and Ancillary Investment</dc:title>
  <dc:subject>PptxGenJS Presentation</dc:subject>
  <dc:creator>Haydn Stucker</dc:creator>
  <cp:lastModifiedBy>Haydn Stucker</cp:lastModifiedBy>
  <cp:revision>1</cp:revision>
  <dcterms:created xsi:type="dcterms:W3CDTF">2026-09-30T02:01:06Z</dcterms:created>
  <dcterms:modified xsi:type="dcterms:W3CDTF">2026-09-30T02:01:06Z</dcterms:modified>
</cp:coreProperties>
</file>